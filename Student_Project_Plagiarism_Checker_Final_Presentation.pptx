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C99D1D-4D87-42E5-9130-E8DA53879306}" v="65" dt="2026-10-07T05:10:05.0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withak@gmail.com" userId="807f5afc919e647a" providerId="LiveId" clId="{F0DF5CB5-DCB1-4511-87F1-5429505CF84B}"/>
    <pc:docChg chg="custSel modSld sldOrd">
      <pc:chgData name="viswithak@gmail.com" userId="807f5afc919e647a" providerId="LiveId" clId="{F0DF5CB5-DCB1-4511-87F1-5429505CF84B}" dt="2026-10-07T05:10:05.009" v="96" actId="20577"/>
      <pc:docMkLst>
        <pc:docMk/>
      </pc:docMkLst>
      <pc:sldChg chg="modSp mod">
        <pc:chgData name="viswithak@gmail.com" userId="807f5afc919e647a" providerId="LiveId" clId="{F0DF5CB5-DCB1-4511-87F1-5429505CF84B}" dt="2026-10-07T05:10:05.009" v="96" actId="20577"/>
        <pc:sldMkLst>
          <pc:docMk/>
          <pc:sldMk cId="0" sldId="256"/>
        </pc:sldMkLst>
        <pc:spChg chg="mod">
          <ac:chgData name="viswithak@gmail.com" userId="807f5afc919e647a" providerId="LiveId" clId="{F0DF5CB5-DCB1-4511-87F1-5429505CF84B}" dt="2026-10-07T04:55:46.218" v="32" actId="1036"/>
          <ac:spMkLst>
            <pc:docMk/>
            <pc:sldMk cId="0" sldId="256"/>
            <ac:spMk id="2" creationId="{00000000-0000-0000-0000-000000000000}"/>
          </ac:spMkLst>
        </pc:spChg>
        <pc:spChg chg="mod">
          <ac:chgData name="viswithak@gmail.com" userId="807f5afc919e647a" providerId="LiveId" clId="{F0DF5CB5-DCB1-4511-87F1-5429505CF84B}" dt="2026-10-07T05:10:05.009" v="96" actId="20577"/>
          <ac:spMkLst>
            <pc:docMk/>
            <pc:sldMk cId="0" sldId="256"/>
            <ac:spMk id="10" creationId="{00000000-0000-0000-0000-000000000000}"/>
          </ac:spMkLst>
        </pc:spChg>
      </pc:sldChg>
      <pc:sldChg chg="addSp modSp mod">
        <pc:chgData name="viswithak@gmail.com" userId="807f5afc919e647a" providerId="LiveId" clId="{F0DF5CB5-DCB1-4511-87F1-5429505CF84B}" dt="2026-09-18T04:41:09.352" v="16" actId="1036"/>
        <pc:sldMkLst>
          <pc:docMk/>
          <pc:sldMk cId="0" sldId="261"/>
        </pc:sldMkLst>
        <pc:spChg chg="mod">
          <ac:chgData name="viswithak@gmail.com" userId="807f5afc919e647a" providerId="LiveId" clId="{F0DF5CB5-DCB1-4511-87F1-5429505CF84B}" dt="2026-09-18T04:41:09.352" v="16" actId="1036"/>
          <ac:spMkLst>
            <pc:docMk/>
            <pc:sldMk cId="0" sldId="261"/>
            <ac:spMk id="2" creationId="{00000000-0000-0000-0000-000000000000}"/>
          </ac:spMkLst>
        </pc:spChg>
        <pc:spChg chg="mod">
          <ac:chgData name="viswithak@gmail.com" userId="807f5afc919e647a" providerId="LiveId" clId="{F0DF5CB5-DCB1-4511-87F1-5429505CF84B}" dt="2026-09-18T04:39:05.833" v="0" actId="21"/>
          <ac:spMkLst>
            <pc:docMk/>
            <pc:sldMk cId="0" sldId="261"/>
            <ac:spMk id="4" creationId="{00000000-0000-0000-0000-000000000000}"/>
          </ac:spMkLst>
        </pc:spChg>
        <pc:spChg chg="mod">
          <ac:chgData name="viswithak@gmail.com" userId="807f5afc919e647a" providerId="LiveId" clId="{F0DF5CB5-DCB1-4511-87F1-5429505CF84B}" dt="2026-09-18T04:41:04.347" v="15" actId="255"/>
          <ac:spMkLst>
            <pc:docMk/>
            <pc:sldMk cId="0" sldId="261"/>
            <ac:spMk id="5" creationId="{00000000-0000-0000-0000-000000000000}"/>
          </ac:spMkLst>
        </pc:spChg>
        <pc:spChg chg="add mod">
          <ac:chgData name="viswithak@gmail.com" userId="807f5afc919e647a" providerId="LiveId" clId="{F0DF5CB5-DCB1-4511-87F1-5429505CF84B}" dt="2026-09-18T04:40:22.527" v="11" actId="14100"/>
          <ac:spMkLst>
            <pc:docMk/>
            <pc:sldMk cId="0" sldId="261"/>
            <ac:spMk id="26" creationId="{0E280D8E-C958-D6DE-D1AA-91DDD4858FE0}"/>
          </ac:spMkLst>
        </pc:spChg>
      </pc:sldChg>
      <pc:sldChg chg="modSp mod">
        <pc:chgData name="viswithak@gmail.com" userId="807f5afc919e647a" providerId="LiveId" clId="{F0DF5CB5-DCB1-4511-87F1-5429505CF84B}" dt="2026-09-18T04:41:42.208" v="22" actId="20577"/>
        <pc:sldMkLst>
          <pc:docMk/>
          <pc:sldMk cId="0" sldId="268"/>
        </pc:sldMkLst>
        <pc:spChg chg="mod">
          <ac:chgData name="viswithak@gmail.com" userId="807f5afc919e647a" providerId="LiveId" clId="{F0DF5CB5-DCB1-4511-87F1-5429505CF84B}" dt="2026-09-18T04:41:42.208" v="22" actId="20577"/>
          <ac:spMkLst>
            <pc:docMk/>
            <pc:sldMk cId="0" sldId="268"/>
            <ac:spMk id="4" creationId="{00000000-0000-0000-0000-000000000000}"/>
          </ac:spMkLst>
        </pc:spChg>
      </pc:sldChg>
      <pc:sldChg chg="modSp mod">
        <pc:chgData name="viswithak@gmail.com" userId="807f5afc919e647a" providerId="LiveId" clId="{F0DF5CB5-DCB1-4511-87F1-5429505CF84B}" dt="2026-09-18T04:41:46.875" v="24" actId="20577"/>
        <pc:sldMkLst>
          <pc:docMk/>
          <pc:sldMk cId="0" sldId="269"/>
        </pc:sldMkLst>
        <pc:spChg chg="mod">
          <ac:chgData name="viswithak@gmail.com" userId="807f5afc919e647a" providerId="LiveId" clId="{F0DF5CB5-DCB1-4511-87F1-5429505CF84B}" dt="2026-09-18T04:41:46.875" v="24" actId="20577"/>
          <ac:spMkLst>
            <pc:docMk/>
            <pc:sldMk cId="0" sldId="269"/>
            <ac:spMk id="4" creationId="{00000000-0000-0000-0000-000000000000}"/>
          </ac:spMkLst>
        </pc:spChg>
      </pc:sldChg>
      <pc:sldChg chg="modSp mod ord">
        <pc:chgData name="viswithak@gmail.com" userId="807f5afc919e647a" providerId="LiveId" clId="{F0DF5CB5-DCB1-4511-87F1-5429505CF84B}" dt="2026-09-18T04:41:37.519" v="20" actId="20577"/>
        <pc:sldMkLst>
          <pc:docMk/>
          <pc:sldMk cId="0" sldId="270"/>
        </pc:sldMkLst>
        <pc:spChg chg="mod">
          <ac:chgData name="viswithak@gmail.com" userId="807f5afc919e647a" providerId="LiveId" clId="{F0DF5CB5-DCB1-4511-87F1-5429505CF84B}" dt="2026-09-18T04:41:37.519" v="20" actId="20577"/>
          <ac:spMkLst>
            <pc:docMk/>
            <pc:sldMk cId="0" sldId="270"/>
            <ac:spMk id="4" creationId="{00000000-0000-0000-0000-000000000000}"/>
          </ac:spMkLst>
        </pc:spChg>
      </pc:sldChg>
      <pc:sldChg chg="delSp modSp mod">
        <pc:chgData name="viswithak@gmail.com" userId="807f5afc919e647a" providerId="LiveId" clId="{F0DF5CB5-DCB1-4511-87F1-5429505CF84B}" dt="2026-09-18T04:44:59.809" v="31" actId="478"/>
        <pc:sldMkLst>
          <pc:docMk/>
          <pc:sldMk cId="0" sldId="275"/>
        </pc:sldMkLst>
        <pc:spChg chg="mod">
          <ac:chgData name="viswithak@gmail.com" userId="807f5afc919e647a" providerId="LiveId" clId="{F0DF5CB5-DCB1-4511-87F1-5429505CF84B}" dt="2026-09-18T04:44:14.091" v="28"/>
          <ac:spMkLst>
            <pc:docMk/>
            <pc:sldMk cId="0" sldId="275"/>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76F336-5FBD-482C-B663-CB9771D8C0ED}" type="datetimeFigureOut">
              <a:rPr lang="en-IN" smtClean="0"/>
              <a:t>06-10-2026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53298B-A40F-42A7-B3B7-71D456484726}" type="slidenum">
              <a:rPr lang="en-IN" smtClean="0"/>
              <a:t>‹#›</a:t>
            </a:fld>
            <a:endParaRPr lang="en-IN"/>
          </a:p>
        </p:txBody>
      </p:sp>
    </p:spTree>
    <p:extLst>
      <p:ext uri="{BB962C8B-B14F-4D97-AF65-F5344CB8AC3E}">
        <p14:creationId xmlns:p14="http://schemas.microsoft.com/office/powerpoint/2010/main" val="4162175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653298B-A40F-42A7-B3B7-71D456484726}" type="slidenum">
              <a:rPr lang="en-IN" smtClean="0"/>
              <a:t>1</a:t>
            </a:fld>
            <a:endParaRPr lang="en-IN"/>
          </a:p>
        </p:txBody>
      </p:sp>
    </p:spTree>
    <p:extLst>
      <p:ext uri="{BB962C8B-B14F-4D97-AF65-F5344CB8AC3E}">
        <p14:creationId xmlns:p14="http://schemas.microsoft.com/office/powerpoint/2010/main" val="4139685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832"/>
            <a:ext cx="12191695" cy="68580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1097280"/>
            <a:ext cx="7132320" cy="1417320"/>
          </a:xfrm>
          <a:prstGeom prst="rect">
            <a:avLst/>
          </a:prstGeom>
          <a:noFill/>
        </p:spPr>
        <p:txBody>
          <a:bodyPr wrap="square">
            <a:spAutoFit/>
          </a:bodyPr>
          <a:lstStyle/>
          <a:p>
            <a:pPr algn="l">
              <a:defRPr sz="3600" b="1">
                <a:solidFill>
                  <a:srgbClr val="FFFFFF"/>
                </a:solidFill>
              </a:defRPr>
            </a:pPr>
            <a:r>
              <a:t>STUDENT PROJECT</a:t>
            </a:r>
            <a:br>
              <a:rPr/>
            </a:br>
            <a:r>
              <a:t>PLAGIARISM CHECKER</a:t>
            </a:r>
          </a:p>
        </p:txBody>
      </p:sp>
      <p:sp>
        <p:nvSpPr>
          <p:cNvPr id="4" name="TextBox 3"/>
          <p:cNvSpPr txBox="1"/>
          <p:nvPr/>
        </p:nvSpPr>
        <p:spPr>
          <a:xfrm>
            <a:off x="713232" y="2697480"/>
            <a:ext cx="7772400" cy="457200"/>
          </a:xfrm>
          <a:prstGeom prst="rect">
            <a:avLst/>
          </a:prstGeom>
          <a:noFill/>
        </p:spPr>
        <p:txBody>
          <a:bodyPr wrap="square">
            <a:spAutoFit/>
          </a:bodyPr>
          <a:lstStyle/>
          <a:p>
            <a:pPr algn="l">
              <a:defRPr sz="1800" b="0">
                <a:solidFill>
                  <a:srgbClr val="BED7F5"/>
                </a:solidFill>
              </a:defRPr>
            </a:pPr>
            <a:r>
              <a:t>DSA-3 Course Project — Final Implementation &amp; Working</a:t>
            </a:r>
          </a:p>
        </p:txBody>
      </p:sp>
      <p:sp>
        <p:nvSpPr>
          <p:cNvPr id="5" name="TextBox 4"/>
          <p:cNvSpPr txBox="1"/>
          <p:nvPr/>
        </p:nvSpPr>
        <p:spPr>
          <a:xfrm>
            <a:off x="713232" y="3337560"/>
            <a:ext cx="8046720" cy="914400"/>
          </a:xfrm>
          <a:prstGeom prst="rect">
            <a:avLst/>
          </a:prstGeom>
          <a:noFill/>
        </p:spPr>
        <p:txBody>
          <a:bodyPr wrap="square">
            <a:spAutoFit/>
          </a:bodyPr>
          <a:lstStyle/>
          <a:p>
            <a:pPr algn="l">
              <a:defRPr sz="2000" b="0">
                <a:solidFill>
                  <a:srgbClr val="FFFFFF"/>
                </a:solidFill>
              </a:defRPr>
            </a:pPr>
            <a:r>
              <a:t>Automated similarity detection using TF-IDF, Cosine Similarity,</a:t>
            </a:r>
            <a:br>
              <a:rPr/>
            </a:br>
            <a:r>
              <a:t>String/Sequence Matching and N-Gram analysis</a:t>
            </a:r>
          </a:p>
        </p:txBody>
      </p:sp>
      <p:sp>
        <p:nvSpPr>
          <p:cNvPr id="6" name="Rounded Rectangle 5"/>
          <p:cNvSpPr/>
          <p:nvPr/>
        </p:nvSpPr>
        <p:spPr>
          <a:xfrm>
            <a:off x="8412480" y="1463040"/>
            <a:ext cx="1325880" cy="822960"/>
          </a:xfrm>
          <a:prstGeom prst="round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TF-IDF</a:t>
            </a:r>
          </a:p>
        </p:txBody>
      </p:sp>
      <p:sp>
        <p:nvSpPr>
          <p:cNvPr id="7" name="Rounded Rectangle 6"/>
          <p:cNvSpPr/>
          <p:nvPr/>
        </p:nvSpPr>
        <p:spPr>
          <a:xfrm>
            <a:off x="9966959" y="1463040"/>
            <a:ext cx="1325880" cy="822960"/>
          </a:xfrm>
          <a:prstGeom prst="roundRect">
            <a:avLst/>
          </a:prstGeom>
          <a:solidFill>
            <a:srgbClr val="41A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COSINE</a:t>
            </a:r>
          </a:p>
        </p:txBody>
      </p:sp>
      <p:sp>
        <p:nvSpPr>
          <p:cNvPr id="8" name="Rounded Rectangle 7"/>
          <p:cNvSpPr/>
          <p:nvPr/>
        </p:nvSpPr>
        <p:spPr>
          <a:xfrm>
            <a:off x="8412480" y="2697480"/>
            <a:ext cx="1325880" cy="822960"/>
          </a:xfrm>
          <a:prstGeom prst="roundRect">
            <a:avLst/>
          </a:prstGeom>
          <a:solidFill>
            <a:srgbClr val="745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STRING</a:t>
            </a:r>
          </a:p>
        </p:txBody>
      </p:sp>
      <p:sp>
        <p:nvSpPr>
          <p:cNvPr id="9" name="Rounded Rectangle 8"/>
          <p:cNvSpPr/>
          <p:nvPr/>
        </p:nvSpPr>
        <p:spPr>
          <a:xfrm>
            <a:off x="9966959" y="2697480"/>
            <a:ext cx="1325880" cy="822960"/>
          </a:xfrm>
          <a:prstGeom prst="roundRect">
            <a:avLst/>
          </a:prstGeom>
          <a:solidFill>
            <a:srgbClr val="2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N-GRAM</a:t>
            </a:r>
          </a:p>
        </p:txBody>
      </p:sp>
      <p:sp>
        <p:nvSpPr>
          <p:cNvPr id="10" name="TextBox 9"/>
          <p:cNvSpPr txBox="1"/>
          <p:nvPr/>
        </p:nvSpPr>
        <p:spPr>
          <a:xfrm>
            <a:off x="713232" y="5771197"/>
            <a:ext cx="7038914" cy="492443"/>
          </a:xfrm>
          <a:prstGeom prst="rect">
            <a:avLst/>
          </a:prstGeom>
          <a:noFill/>
        </p:spPr>
        <p:txBody>
          <a:bodyPr wrap="square">
            <a:spAutoFit/>
          </a:bodyPr>
          <a:lstStyle/>
          <a:p>
            <a:pPr algn="l">
              <a:defRPr sz="1300" b="0">
                <a:solidFill>
                  <a:srgbClr val="BED7F5"/>
                </a:solidFill>
              </a:defRPr>
            </a:pPr>
            <a:r>
              <a:rPr lang="en-IN"/>
              <a:t>Guide: Dr. Anitha P</a:t>
            </a:r>
          </a:p>
          <a:p>
            <a:pPr algn="l">
              <a:defRPr sz="1300" b="0">
                <a:solidFill>
                  <a:srgbClr val="BED7F5"/>
                </a:solidFill>
              </a:defRPr>
            </a:pPr>
            <a:r>
              <a:t>Team: Shravika • Shruthi • Akhila • Viswitha</a:t>
            </a:r>
          </a:p>
        </p:txBody>
      </p:sp>
      <p:sp>
        <p:nvSpPr>
          <p:cNvPr id="11" name="TextBox 10"/>
          <p:cNvSpPr txBox="1"/>
          <p:nvPr/>
        </p:nvSpPr>
        <p:spPr>
          <a:xfrm>
            <a:off x="731520" y="6263640"/>
            <a:ext cx="7315200" cy="274320"/>
          </a:xfrm>
          <a:prstGeom prst="rect">
            <a:avLst/>
          </a:prstGeom>
          <a:noFill/>
        </p:spPr>
        <p:txBody>
          <a:bodyPr wrap="square">
            <a:spAutoFit/>
          </a:bodyPr>
          <a:lstStyle/>
          <a:p>
            <a:pPr algn="l">
              <a:defRPr sz="1100" b="0">
                <a:solidFill>
                  <a:srgbClr val="A5BEDC"/>
                </a:solidFill>
              </a:defRPr>
            </a:pPr>
            <a:r>
              <a:t>Project focus: DSA-based academic similarity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1. Problem Statement</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Why automated project comparison is needed</a:t>
            </a:r>
          </a:p>
        </p:txBody>
      </p:sp>
      <p:sp>
        <p:nvSpPr>
          <p:cNvPr id="6" name="Rounded Rectangle 5"/>
          <p:cNvSpPr/>
          <p:nvPr/>
        </p:nvSpPr>
        <p:spPr>
          <a:xfrm>
            <a:off x="594360" y="1234440"/>
            <a:ext cx="5394960" cy="43891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73152" cy="4389120"/>
          </a:xfrm>
          <a:prstGeom prst="rect">
            <a:avLst/>
          </a:prstGeom>
          <a:solidFill>
            <a:srgbClr val="CD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380744"/>
            <a:ext cx="5074920" cy="320040"/>
          </a:xfrm>
          <a:prstGeom prst="rect">
            <a:avLst/>
          </a:prstGeom>
          <a:noFill/>
        </p:spPr>
        <p:txBody>
          <a:bodyPr wrap="square">
            <a:spAutoFit/>
          </a:bodyPr>
          <a:lstStyle/>
          <a:p>
            <a:pPr algn="l">
              <a:defRPr sz="1700" b="1">
                <a:solidFill>
                  <a:srgbClr val="11233F"/>
                </a:solidFill>
              </a:defRPr>
            </a:pPr>
            <a:r>
              <a:t>The Challenge</a:t>
            </a:r>
          </a:p>
        </p:txBody>
      </p:sp>
      <p:sp>
        <p:nvSpPr>
          <p:cNvPr id="9" name="TextBox 8"/>
          <p:cNvSpPr txBox="1"/>
          <p:nvPr/>
        </p:nvSpPr>
        <p:spPr>
          <a:xfrm>
            <a:off x="795528" y="1783080"/>
            <a:ext cx="5047488" cy="3730752"/>
          </a:xfrm>
          <a:prstGeom prst="rect">
            <a:avLst/>
          </a:prstGeom>
          <a:noFill/>
        </p:spPr>
        <p:txBody>
          <a:bodyPr wrap="square">
            <a:spAutoFit/>
          </a:bodyPr>
          <a:lstStyle/>
          <a:p>
            <a:pPr algn="l">
              <a:defRPr sz="1600" b="0">
                <a:solidFill>
                  <a:srgbClr val="232A34"/>
                </a:solidFill>
              </a:defRPr>
            </a:pPr>
            <a:r>
              <a:t>Manual plagiarism checking is time-consuming and inefficient.</a:t>
            </a:r>
            <a:br/>
            <a:br/>
            <a:r>
              <a:t>• Comparing submissions one by one can miss partial similarities.</a:t>
            </a:r>
            <a:br/>
            <a:r>
              <a:t>• Individual file comparison requires significant faculty effort.</a:t>
            </a:r>
            <a:br/>
            <a:r>
              <a:t>• Similarity may appear as repeated phrases, reordered text or shared code fragments.</a:t>
            </a:r>
          </a:p>
        </p:txBody>
      </p:sp>
      <p:sp>
        <p:nvSpPr>
          <p:cNvPr id="10" name="Rounded Rectangle 9"/>
          <p:cNvSpPr/>
          <p:nvPr/>
        </p:nvSpPr>
        <p:spPr>
          <a:xfrm>
            <a:off x="6217920" y="1234440"/>
            <a:ext cx="5349240" cy="43891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234440"/>
            <a:ext cx="73152" cy="438912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380744"/>
            <a:ext cx="5029200" cy="320040"/>
          </a:xfrm>
          <a:prstGeom prst="rect">
            <a:avLst/>
          </a:prstGeom>
          <a:noFill/>
        </p:spPr>
        <p:txBody>
          <a:bodyPr wrap="square">
            <a:spAutoFit/>
          </a:bodyPr>
          <a:lstStyle/>
          <a:p>
            <a:pPr algn="l">
              <a:defRPr sz="1700" b="1">
                <a:solidFill>
                  <a:srgbClr val="11233F"/>
                </a:solidFill>
              </a:defRPr>
            </a:pPr>
            <a:r>
              <a:t>Project Objectives</a:t>
            </a:r>
          </a:p>
        </p:txBody>
      </p:sp>
      <p:sp>
        <p:nvSpPr>
          <p:cNvPr id="13" name="TextBox 12"/>
          <p:cNvSpPr txBox="1"/>
          <p:nvPr/>
        </p:nvSpPr>
        <p:spPr>
          <a:xfrm>
            <a:off x="6419088" y="1783080"/>
            <a:ext cx="5001768" cy="3730752"/>
          </a:xfrm>
          <a:prstGeom prst="rect">
            <a:avLst/>
          </a:prstGeom>
          <a:noFill/>
        </p:spPr>
        <p:txBody>
          <a:bodyPr wrap="square">
            <a:spAutoFit/>
          </a:bodyPr>
          <a:lstStyle/>
          <a:p>
            <a:pPr algn="l">
              <a:defRPr sz="1600" b="0">
                <a:solidFill>
                  <a:srgbClr val="232A34"/>
                </a:solidFill>
              </a:defRPr>
            </a:pPr>
            <a:r>
              <a:t>• Detect similarities between student submissions automatically.</a:t>
            </a:r>
            <a:br/>
            <a:r>
              <a:t>• Calculate measurable similarity scores using DSA techniques.</a:t>
            </a:r>
            <a:br/>
            <a:r>
              <a:t>• Reduce manual comparison effort.</a:t>
            </a:r>
            <a:br/>
            <a:r>
              <a:t>• Produce clear results for instructor review.</a:t>
            </a:r>
            <a:br/>
            <a:r>
              <a:t>• Support academic integrity through efficient comparison.</a:t>
            </a:r>
          </a:p>
        </p:txBody>
      </p:sp>
      <p:sp>
        <p:nvSpPr>
          <p:cNvPr id="14" name="Rectangle 13"/>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2. Literature Review</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Research foundation used to select the algorithms</a:t>
            </a:r>
          </a:p>
        </p:txBody>
      </p:sp>
      <p:sp>
        <p:nvSpPr>
          <p:cNvPr id="6" name="TextBox 5"/>
          <p:cNvSpPr txBox="1"/>
          <p:nvPr/>
        </p:nvSpPr>
        <p:spPr>
          <a:xfrm>
            <a:off x="502920" y="1143000"/>
            <a:ext cx="2057400" cy="411480"/>
          </a:xfrm>
          <a:prstGeom prst="rect">
            <a:avLst/>
          </a:prstGeom>
          <a:noFill/>
        </p:spPr>
        <p:txBody>
          <a:bodyPr wrap="square">
            <a:spAutoFit/>
          </a:bodyPr>
          <a:lstStyle/>
          <a:p>
            <a:pPr algn="ctr">
              <a:defRPr sz="1300" b="1">
                <a:solidFill>
                  <a:srgbClr val="FFFFFF"/>
                </a:solidFill>
              </a:defRPr>
            </a:pPr>
            <a:r>
              <a:t>Study</a:t>
            </a:r>
          </a:p>
        </p:txBody>
      </p:sp>
      <p:sp>
        <p:nvSpPr>
          <p:cNvPr id="7" name="Rectangle 6"/>
          <p:cNvSpPr/>
          <p:nvPr/>
        </p:nvSpPr>
        <p:spPr>
          <a:xfrm>
            <a:off x="502920" y="1143000"/>
            <a:ext cx="2057400" cy="41148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161288"/>
            <a:ext cx="2057400" cy="365760"/>
          </a:xfrm>
          <a:prstGeom prst="rect">
            <a:avLst/>
          </a:prstGeom>
          <a:noFill/>
        </p:spPr>
        <p:txBody>
          <a:bodyPr wrap="square">
            <a:spAutoFit/>
          </a:bodyPr>
          <a:lstStyle/>
          <a:p>
            <a:pPr algn="ctr">
              <a:defRPr sz="1200" b="1">
                <a:solidFill>
                  <a:srgbClr val="FFFFFF"/>
                </a:solidFill>
              </a:defRPr>
            </a:pPr>
            <a:r>
              <a:t>Study</a:t>
            </a:r>
          </a:p>
        </p:txBody>
      </p:sp>
      <p:sp>
        <p:nvSpPr>
          <p:cNvPr id="9" name="TextBox 8"/>
          <p:cNvSpPr txBox="1"/>
          <p:nvPr/>
        </p:nvSpPr>
        <p:spPr>
          <a:xfrm>
            <a:off x="2560320" y="1143000"/>
            <a:ext cx="2148840" cy="411480"/>
          </a:xfrm>
          <a:prstGeom prst="rect">
            <a:avLst/>
          </a:prstGeom>
          <a:noFill/>
        </p:spPr>
        <p:txBody>
          <a:bodyPr wrap="square">
            <a:spAutoFit/>
          </a:bodyPr>
          <a:lstStyle/>
          <a:p>
            <a:pPr algn="ctr">
              <a:defRPr sz="1300" b="1">
                <a:solidFill>
                  <a:srgbClr val="FFFFFF"/>
                </a:solidFill>
              </a:defRPr>
            </a:pPr>
            <a:r>
              <a:t>Area</a:t>
            </a:r>
          </a:p>
        </p:txBody>
      </p:sp>
      <p:sp>
        <p:nvSpPr>
          <p:cNvPr id="10" name="Rectangle 9"/>
          <p:cNvSpPr/>
          <p:nvPr/>
        </p:nvSpPr>
        <p:spPr>
          <a:xfrm>
            <a:off x="2560320" y="1143000"/>
            <a:ext cx="2148840" cy="41148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0" y="1161288"/>
            <a:ext cx="2148840" cy="365760"/>
          </a:xfrm>
          <a:prstGeom prst="rect">
            <a:avLst/>
          </a:prstGeom>
          <a:noFill/>
        </p:spPr>
        <p:txBody>
          <a:bodyPr wrap="square">
            <a:spAutoFit/>
          </a:bodyPr>
          <a:lstStyle/>
          <a:p>
            <a:pPr algn="ctr">
              <a:defRPr sz="1200" b="1">
                <a:solidFill>
                  <a:srgbClr val="FFFFFF"/>
                </a:solidFill>
              </a:defRPr>
            </a:pPr>
            <a:r>
              <a:t>Area</a:t>
            </a:r>
          </a:p>
        </p:txBody>
      </p:sp>
      <p:sp>
        <p:nvSpPr>
          <p:cNvPr id="12" name="TextBox 11"/>
          <p:cNvSpPr txBox="1"/>
          <p:nvPr/>
        </p:nvSpPr>
        <p:spPr>
          <a:xfrm>
            <a:off x="4709159" y="1143000"/>
            <a:ext cx="2103120" cy="411480"/>
          </a:xfrm>
          <a:prstGeom prst="rect">
            <a:avLst/>
          </a:prstGeom>
          <a:noFill/>
        </p:spPr>
        <p:txBody>
          <a:bodyPr wrap="square">
            <a:spAutoFit/>
          </a:bodyPr>
          <a:lstStyle/>
          <a:p>
            <a:pPr algn="ctr">
              <a:defRPr sz="1300" b="1">
                <a:solidFill>
                  <a:srgbClr val="FFFFFF"/>
                </a:solidFill>
              </a:defRPr>
            </a:pPr>
            <a:r>
              <a:t>Technique</a:t>
            </a:r>
          </a:p>
        </p:txBody>
      </p:sp>
      <p:sp>
        <p:nvSpPr>
          <p:cNvPr id="13" name="Rectangle 12"/>
          <p:cNvSpPr/>
          <p:nvPr/>
        </p:nvSpPr>
        <p:spPr>
          <a:xfrm>
            <a:off x="4709159" y="1143000"/>
            <a:ext cx="2103120" cy="41148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09159" y="1161288"/>
            <a:ext cx="2103120" cy="365760"/>
          </a:xfrm>
          <a:prstGeom prst="rect">
            <a:avLst/>
          </a:prstGeom>
          <a:noFill/>
        </p:spPr>
        <p:txBody>
          <a:bodyPr wrap="square">
            <a:spAutoFit/>
          </a:bodyPr>
          <a:lstStyle/>
          <a:p>
            <a:pPr algn="ctr">
              <a:defRPr sz="1200" b="1">
                <a:solidFill>
                  <a:srgbClr val="FFFFFF"/>
                </a:solidFill>
              </a:defRPr>
            </a:pPr>
            <a:r>
              <a:t>Technique</a:t>
            </a:r>
          </a:p>
        </p:txBody>
      </p:sp>
      <p:sp>
        <p:nvSpPr>
          <p:cNvPr id="15" name="TextBox 14"/>
          <p:cNvSpPr txBox="1"/>
          <p:nvPr/>
        </p:nvSpPr>
        <p:spPr>
          <a:xfrm>
            <a:off x="6812280" y="1143000"/>
            <a:ext cx="5303520" cy="411480"/>
          </a:xfrm>
          <a:prstGeom prst="rect">
            <a:avLst/>
          </a:prstGeom>
          <a:noFill/>
        </p:spPr>
        <p:txBody>
          <a:bodyPr wrap="square">
            <a:spAutoFit/>
          </a:bodyPr>
          <a:lstStyle/>
          <a:p>
            <a:pPr algn="ctr">
              <a:defRPr sz="1300" b="1">
                <a:solidFill>
                  <a:srgbClr val="FFFFFF"/>
                </a:solidFill>
              </a:defRPr>
            </a:pPr>
            <a:r>
              <a:t>Finding</a:t>
            </a:r>
          </a:p>
        </p:txBody>
      </p:sp>
      <p:sp>
        <p:nvSpPr>
          <p:cNvPr id="16" name="Rectangle 15"/>
          <p:cNvSpPr/>
          <p:nvPr/>
        </p:nvSpPr>
        <p:spPr>
          <a:xfrm>
            <a:off x="6812280" y="1143000"/>
            <a:ext cx="5303520" cy="41148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12280" y="1161288"/>
            <a:ext cx="5303520" cy="365760"/>
          </a:xfrm>
          <a:prstGeom prst="rect">
            <a:avLst/>
          </a:prstGeom>
          <a:noFill/>
        </p:spPr>
        <p:txBody>
          <a:bodyPr wrap="square">
            <a:spAutoFit/>
          </a:bodyPr>
          <a:lstStyle/>
          <a:p>
            <a:pPr algn="ctr">
              <a:defRPr sz="1200" b="1">
                <a:solidFill>
                  <a:srgbClr val="FFFFFF"/>
                </a:solidFill>
              </a:defRPr>
            </a:pPr>
            <a:r>
              <a:t>Finding</a:t>
            </a:r>
          </a:p>
        </p:txBody>
      </p:sp>
      <p:sp>
        <p:nvSpPr>
          <p:cNvPr id="18" name="Rectangle 17"/>
          <p:cNvSpPr/>
          <p:nvPr/>
        </p:nvSpPr>
        <p:spPr>
          <a:xfrm>
            <a:off x="502920" y="1600200"/>
            <a:ext cx="205740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6072" y="1691640"/>
            <a:ext cx="1911095" cy="621792"/>
          </a:xfrm>
          <a:prstGeom prst="rect">
            <a:avLst/>
          </a:prstGeom>
          <a:noFill/>
        </p:spPr>
        <p:txBody>
          <a:bodyPr wrap="square">
            <a:spAutoFit/>
          </a:bodyPr>
          <a:lstStyle/>
          <a:p>
            <a:pPr algn="l">
              <a:defRPr sz="1150" b="1">
                <a:solidFill>
                  <a:srgbClr val="232A34"/>
                </a:solidFill>
              </a:defRPr>
            </a:pPr>
            <a:r>
              <a:t>Schleimer et al. (2003)</a:t>
            </a:r>
          </a:p>
        </p:txBody>
      </p:sp>
      <p:sp>
        <p:nvSpPr>
          <p:cNvPr id="20" name="Rectangle 19"/>
          <p:cNvSpPr/>
          <p:nvPr/>
        </p:nvSpPr>
        <p:spPr>
          <a:xfrm>
            <a:off x="2560320" y="1600200"/>
            <a:ext cx="214884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633472" y="1691640"/>
            <a:ext cx="2002536" cy="621792"/>
          </a:xfrm>
          <a:prstGeom prst="rect">
            <a:avLst/>
          </a:prstGeom>
          <a:noFill/>
        </p:spPr>
        <p:txBody>
          <a:bodyPr wrap="square">
            <a:spAutoFit/>
          </a:bodyPr>
          <a:lstStyle/>
          <a:p>
            <a:pPr algn="l">
              <a:defRPr sz="1150" b="0">
                <a:solidFill>
                  <a:srgbClr val="232A34"/>
                </a:solidFill>
              </a:defRPr>
            </a:pPr>
            <a:r>
              <a:t>Source-code plagiarism</a:t>
            </a:r>
          </a:p>
        </p:txBody>
      </p:sp>
      <p:sp>
        <p:nvSpPr>
          <p:cNvPr id="22" name="Rectangle 21"/>
          <p:cNvSpPr/>
          <p:nvPr/>
        </p:nvSpPr>
        <p:spPr>
          <a:xfrm>
            <a:off x="4709159" y="1600200"/>
            <a:ext cx="210312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82312" y="1691640"/>
            <a:ext cx="1956815" cy="621792"/>
          </a:xfrm>
          <a:prstGeom prst="rect">
            <a:avLst/>
          </a:prstGeom>
          <a:noFill/>
        </p:spPr>
        <p:txBody>
          <a:bodyPr wrap="square">
            <a:spAutoFit/>
          </a:bodyPr>
          <a:lstStyle/>
          <a:p>
            <a:pPr algn="l">
              <a:defRPr sz="1150" b="0">
                <a:solidFill>
                  <a:srgbClr val="232A34"/>
                </a:solidFill>
              </a:defRPr>
            </a:pPr>
            <a:r>
              <a:t>Winnowing</a:t>
            </a:r>
          </a:p>
        </p:txBody>
      </p:sp>
      <p:sp>
        <p:nvSpPr>
          <p:cNvPr id="24" name="Rectangle 23"/>
          <p:cNvSpPr/>
          <p:nvPr/>
        </p:nvSpPr>
        <p:spPr>
          <a:xfrm>
            <a:off x="6812280" y="1600200"/>
            <a:ext cx="530352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85432" y="1691640"/>
            <a:ext cx="5157216" cy="621792"/>
          </a:xfrm>
          <a:prstGeom prst="rect">
            <a:avLst/>
          </a:prstGeom>
          <a:noFill/>
        </p:spPr>
        <p:txBody>
          <a:bodyPr wrap="square">
            <a:spAutoFit/>
          </a:bodyPr>
          <a:lstStyle/>
          <a:p>
            <a:pPr algn="l">
              <a:defRPr sz="1150" b="0">
                <a:solidFill>
                  <a:srgbClr val="232A34"/>
                </a:solidFill>
              </a:defRPr>
            </a:pPr>
            <a:r>
              <a:t>Efficient code fingerprinting</a:t>
            </a:r>
          </a:p>
        </p:txBody>
      </p:sp>
      <p:sp>
        <p:nvSpPr>
          <p:cNvPr id="26" name="Rectangle 25"/>
          <p:cNvSpPr/>
          <p:nvPr/>
        </p:nvSpPr>
        <p:spPr>
          <a:xfrm>
            <a:off x="502920" y="2468880"/>
            <a:ext cx="2057400" cy="804672"/>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6072" y="2560320"/>
            <a:ext cx="1911095" cy="621792"/>
          </a:xfrm>
          <a:prstGeom prst="rect">
            <a:avLst/>
          </a:prstGeom>
          <a:noFill/>
        </p:spPr>
        <p:txBody>
          <a:bodyPr wrap="square">
            <a:spAutoFit/>
          </a:bodyPr>
          <a:lstStyle/>
          <a:p>
            <a:pPr algn="l">
              <a:defRPr sz="1150" b="1">
                <a:solidFill>
                  <a:srgbClr val="232A34"/>
                </a:solidFill>
              </a:defRPr>
            </a:pPr>
            <a:r>
              <a:t>Salton &amp; McGill (1983)</a:t>
            </a:r>
          </a:p>
        </p:txBody>
      </p:sp>
      <p:sp>
        <p:nvSpPr>
          <p:cNvPr id="28" name="Rectangle 27"/>
          <p:cNvSpPr/>
          <p:nvPr/>
        </p:nvSpPr>
        <p:spPr>
          <a:xfrm>
            <a:off x="2560320" y="2468880"/>
            <a:ext cx="2148840" cy="804672"/>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633472" y="2560320"/>
            <a:ext cx="2002536" cy="621792"/>
          </a:xfrm>
          <a:prstGeom prst="rect">
            <a:avLst/>
          </a:prstGeom>
          <a:noFill/>
        </p:spPr>
        <p:txBody>
          <a:bodyPr wrap="square">
            <a:spAutoFit/>
          </a:bodyPr>
          <a:lstStyle/>
          <a:p>
            <a:pPr algn="l">
              <a:defRPr sz="1150" b="0">
                <a:solidFill>
                  <a:srgbClr val="232A34"/>
                </a:solidFill>
              </a:defRPr>
            </a:pPr>
            <a:r>
              <a:t>Text similarity</a:t>
            </a:r>
          </a:p>
        </p:txBody>
      </p:sp>
      <p:sp>
        <p:nvSpPr>
          <p:cNvPr id="30" name="Rectangle 29"/>
          <p:cNvSpPr/>
          <p:nvPr/>
        </p:nvSpPr>
        <p:spPr>
          <a:xfrm>
            <a:off x="4709159" y="2468880"/>
            <a:ext cx="2103120" cy="804672"/>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82312" y="2560320"/>
            <a:ext cx="1956815" cy="621792"/>
          </a:xfrm>
          <a:prstGeom prst="rect">
            <a:avLst/>
          </a:prstGeom>
          <a:noFill/>
        </p:spPr>
        <p:txBody>
          <a:bodyPr wrap="square">
            <a:spAutoFit/>
          </a:bodyPr>
          <a:lstStyle/>
          <a:p>
            <a:pPr algn="l">
              <a:defRPr sz="1150" b="0">
                <a:solidFill>
                  <a:srgbClr val="232A34"/>
                </a:solidFill>
              </a:defRPr>
            </a:pPr>
            <a:r>
              <a:t>Vector space model</a:t>
            </a:r>
          </a:p>
        </p:txBody>
      </p:sp>
      <p:sp>
        <p:nvSpPr>
          <p:cNvPr id="32" name="Rectangle 31"/>
          <p:cNvSpPr/>
          <p:nvPr/>
        </p:nvSpPr>
        <p:spPr>
          <a:xfrm>
            <a:off x="6812280" y="2468880"/>
            <a:ext cx="5303520" cy="804672"/>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85432" y="2560320"/>
            <a:ext cx="5157216" cy="621792"/>
          </a:xfrm>
          <a:prstGeom prst="rect">
            <a:avLst/>
          </a:prstGeom>
          <a:noFill/>
        </p:spPr>
        <p:txBody>
          <a:bodyPr wrap="square">
            <a:spAutoFit/>
          </a:bodyPr>
          <a:lstStyle/>
          <a:p>
            <a:pPr algn="l">
              <a:defRPr sz="1150" b="0">
                <a:solidFill>
                  <a:srgbClr val="232A34"/>
                </a:solidFill>
              </a:defRPr>
            </a:pPr>
            <a:r>
              <a:t>Foundation for TF-IDF and cosine similarity</a:t>
            </a:r>
          </a:p>
        </p:txBody>
      </p:sp>
      <p:sp>
        <p:nvSpPr>
          <p:cNvPr id="34" name="Rectangle 33"/>
          <p:cNvSpPr/>
          <p:nvPr/>
        </p:nvSpPr>
        <p:spPr>
          <a:xfrm>
            <a:off x="502920" y="3337560"/>
            <a:ext cx="205740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6072" y="3429000"/>
            <a:ext cx="1911095" cy="621792"/>
          </a:xfrm>
          <a:prstGeom prst="rect">
            <a:avLst/>
          </a:prstGeom>
          <a:noFill/>
        </p:spPr>
        <p:txBody>
          <a:bodyPr wrap="square">
            <a:spAutoFit/>
          </a:bodyPr>
          <a:lstStyle/>
          <a:p>
            <a:pPr algn="l">
              <a:defRPr sz="1150" b="1">
                <a:solidFill>
                  <a:srgbClr val="232A34"/>
                </a:solidFill>
              </a:defRPr>
            </a:pPr>
            <a:r>
              <a:t>Barrón-Cedeño et al. (2009)</a:t>
            </a:r>
          </a:p>
        </p:txBody>
      </p:sp>
      <p:sp>
        <p:nvSpPr>
          <p:cNvPr id="36" name="Rectangle 35"/>
          <p:cNvSpPr/>
          <p:nvPr/>
        </p:nvSpPr>
        <p:spPr>
          <a:xfrm>
            <a:off x="2560320" y="3337560"/>
            <a:ext cx="214884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633472" y="3429000"/>
            <a:ext cx="2002536" cy="621792"/>
          </a:xfrm>
          <a:prstGeom prst="rect">
            <a:avLst/>
          </a:prstGeom>
          <a:noFill/>
        </p:spPr>
        <p:txBody>
          <a:bodyPr wrap="square">
            <a:spAutoFit/>
          </a:bodyPr>
          <a:lstStyle/>
          <a:p>
            <a:pPr algn="l">
              <a:defRPr sz="1150" b="0">
                <a:solidFill>
                  <a:srgbClr val="232A34"/>
                </a:solidFill>
              </a:defRPr>
            </a:pPr>
            <a:r>
              <a:t>Plagiarism detection</a:t>
            </a:r>
          </a:p>
        </p:txBody>
      </p:sp>
      <p:sp>
        <p:nvSpPr>
          <p:cNvPr id="38" name="Rectangle 37"/>
          <p:cNvSpPr/>
          <p:nvPr/>
        </p:nvSpPr>
        <p:spPr>
          <a:xfrm>
            <a:off x="4709159" y="3337560"/>
            <a:ext cx="210312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82312" y="3429000"/>
            <a:ext cx="1956815" cy="621792"/>
          </a:xfrm>
          <a:prstGeom prst="rect">
            <a:avLst/>
          </a:prstGeom>
          <a:noFill/>
        </p:spPr>
        <p:txBody>
          <a:bodyPr wrap="square">
            <a:spAutoFit/>
          </a:bodyPr>
          <a:lstStyle/>
          <a:p>
            <a:pPr algn="l">
              <a:defRPr sz="1150" b="0">
                <a:solidFill>
                  <a:srgbClr val="232A34"/>
                </a:solidFill>
              </a:defRPr>
            </a:pPr>
            <a:r>
              <a:t>N-gram / string matching</a:t>
            </a:r>
          </a:p>
        </p:txBody>
      </p:sp>
      <p:sp>
        <p:nvSpPr>
          <p:cNvPr id="40" name="Rectangle 39"/>
          <p:cNvSpPr/>
          <p:nvPr/>
        </p:nvSpPr>
        <p:spPr>
          <a:xfrm>
            <a:off x="6812280" y="3337560"/>
            <a:ext cx="530352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885432" y="3429000"/>
            <a:ext cx="5157216" cy="621792"/>
          </a:xfrm>
          <a:prstGeom prst="rect">
            <a:avLst/>
          </a:prstGeom>
          <a:noFill/>
        </p:spPr>
        <p:txBody>
          <a:bodyPr wrap="square">
            <a:spAutoFit/>
          </a:bodyPr>
          <a:lstStyle/>
          <a:p>
            <a:pPr algn="l">
              <a:defRPr sz="1150" b="0">
                <a:solidFill>
                  <a:srgbClr val="232A34"/>
                </a:solidFill>
              </a:defRPr>
            </a:pPr>
            <a:r>
              <a:t>Useful for partial plagiarism</a:t>
            </a:r>
          </a:p>
        </p:txBody>
      </p:sp>
      <p:sp>
        <p:nvSpPr>
          <p:cNvPr id="42" name="Rectangle 41"/>
          <p:cNvSpPr/>
          <p:nvPr/>
        </p:nvSpPr>
        <p:spPr>
          <a:xfrm>
            <a:off x="502920" y="4206240"/>
            <a:ext cx="2057400" cy="804672"/>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76072" y="4297679"/>
            <a:ext cx="1911095" cy="621792"/>
          </a:xfrm>
          <a:prstGeom prst="rect">
            <a:avLst/>
          </a:prstGeom>
          <a:noFill/>
        </p:spPr>
        <p:txBody>
          <a:bodyPr wrap="square">
            <a:spAutoFit/>
          </a:bodyPr>
          <a:lstStyle/>
          <a:p>
            <a:pPr algn="l">
              <a:defRPr sz="1150" b="1">
                <a:solidFill>
                  <a:srgbClr val="232A34"/>
                </a:solidFill>
              </a:defRPr>
            </a:pPr>
            <a:r>
              <a:t>Potthast et al. (2014)</a:t>
            </a:r>
          </a:p>
        </p:txBody>
      </p:sp>
      <p:sp>
        <p:nvSpPr>
          <p:cNvPr id="44" name="Rectangle 43"/>
          <p:cNvSpPr/>
          <p:nvPr/>
        </p:nvSpPr>
        <p:spPr>
          <a:xfrm>
            <a:off x="2560320" y="4206240"/>
            <a:ext cx="2148840" cy="804672"/>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633472" y="4297679"/>
            <a:ext cx="2002536" cy="621792"/>
          </a:xfrm>
          <a:prstGeom prst="rect">
            <a:avLst/>
          </a:prstGeom>
          <a:noFill/>
        </p:spPr>
        <p:txBody>
          <a:bodyPr wrap="square">
            <a:spAutoFit/>
          </a:bodyPr>
          <a:lstStyle/>
          <a:p>
            <a:pPr algn="l">
              <a:defRPr sz="1150" b="0">
                <a:solidFill>
                  <a:srgbClr val="232A34"/>
                </a:solidFill>
              </a:defRPr>
            </a:pPr>
            <a:r>
              <a:t>Automated plagiarism</a:t>
            </a:r>
          </a:p>
        </p:txBody>
      </p:sp>
      <p:sp>
        <p:nvSpPr>
          <p:cNvPr id="46" name="Rectangle 45"/>
          <p:cNvSpPr/>
          <p:nvPr/>
        </p:nvSpPr>
        <p:spPr>
          <a:xfrm>
            <a:off x="4709159" y="4206240"/>
            <a:ext cx="2103120" cy="804672"/>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82312" y="4297679"/>
            <a:ext cx="1956815" cy="621792"/>
          </a:xfrm>
          <a:prstGeom prst="rect">
            <a:avLst/>
          </a:prstGeom>
          <a:noFill/>
        </p:spPr>
        <p:txBody>
          <a:bodyPr wrap="square">
            <a:spAutoFit/>
          </a:bodyPr>
          <a:lstStyle/>
          <a:p>
            <a:pPr algn="l">
              <a:defRPr sz="1150" b="0">
                <a:solidFill>
                  <a:srgbClr val="232A34"/>
                </a:solidFill>
              </a:defRPr>
            </a:pPr>
            <a:r>
              <a:t>Semantic + syntactic analysis</a:t>
            </a:r>
          </a:p>
        </p:txBody>
      </p:sp>
      <p:sp>
        <p:nvSpPr>
          <p:cNvPr id="48" name="Rectangle 47"/>
          <p:cNvSpPr/>
          <p:nvPr/>
        </p:nvSpPr>
        <p:spPr>
          <a:xfrm>
            <a:off x="6812280" y="4206240"/>
            <a:ext cx="5303520" cy="804672"/>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85432" y="4297679"/>
            <a:ext cx="5157216" cy="621792"/>
          </a:xfrm>
          <a:prstGeom prst="rect">
            <a:avLst/>
          </a:prstGeom>
          <a:noFill/>
        </p:spPr>
        <p:txBody>
          <a:bodyPr wrap="square">
            <a:spAutoFit/>
          </a:bodyPr>
          <a:lstStyle/>
          <a:p>
            <a:pPr algn="l">
              <a:defRPr sz="1150" b="0">
                <a:solidFill>
                  <a:srgbClr val="232A34"/>
                </a:solidFill>
              </a:defRPr>
            </a:pPr>
            <a:r>
              <a:t>Addresses obfuscated similarity</a:t>
            </a:r>
          </a:p>
        </p:txBody>
      </p:sp>
      <p:sp>
        <p:nvSpPr>
          <p:cNvPr id="50" name="Rectangle 49"/>
          <p:cNvSpPr/>
          <p:nvPr/>
        </p:nvSpPr>
        <p:spPr>
          <a:xfrm>
            <a:off x="502920" y="5074920"/>
            <a:ext cx="205740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76072" y="5166359"/>
            <a:ext cx="1911095" cy="621792"/>
          </a:xfrm>
          <a:prstGeom prst="rect">
            <a:avLst/>
          </a:prstGeom>
          <a:noFill/>
        </p:spPr>
        <p:txBody>
          <a:bodyPr wrap="square">
            <a:spAutoFit/>
          </a:bodyPr>
          <a:lstStyle/>
          <a:p>
            <a:pPr algn="l">
              <a:defRPr sz="1150" b="1">
                <a:solidFill>
                  <a:srgbClr val="232A34"/>
                </a:solidFill>
              </a:defRPr>
            </a:pPr>
            <a:r>
              <a:t>Frantzeskou et al. (2006)</a:t>
            </a:r>
          </a:p>
        </p:txBody>
      </p:sp>
      <p:sp>
        <p:nvSpPr>
          <p:cNvPr id="52" name="Rectangle 51"/>
          <p:cNvSpPr/>
          <p:nvPr/>
        </p:nvSpPr>
        <p:spPr>
          <a:xfrm>
            <a:off x="2560320" y="5074920"/>
            <a:ext cx="214884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633472" y="5166359"/>
            <a:ext cx="2002536" cy="621792"/>
          </a:xfrm>
          <a:prstGeom prst="rect">
            <a:avLst/>
          </a:prstGeom>
          <a:noFill/>
        </p:spPr>
        <p:txBody>
          <a:bodyPr wrap="square">
            <a:spAutoFit/>
          </a:bodyPr>
          <a:lstStyle/>
          <a:p>
            <a:pPr algn="l">
              <a:defRPr sz="1150" b="0">
                <a:solidFill>
                  <a:srgbClr val="232A34"/>
                </a:solidFill>
              </a:defRPr>
            </a:pPr>
            <a:r>
              <a:t>Source-code similarity</a:t>
            </a:r>
          </a:p>
        </p:txBody>
      </p:sp>
      <p:sp>
        <p:nvSpPr>
          <p:cNvPr id="54" name="Rectangle 53"/>
          <p:cNvSpPr/>
          <p:nvPr/>
        </p:nvSpPr>
        <p:spPr>
          <a:xfrm>
            <a:off x="4709159" y="5074920"/>
            <a:ext cx="210312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782312" y="5166359"/>
            <a:ext cx="1956815" cy="621792"/>
          </a:xfrm>
          <a:prstGeom prst="rect">
            <a:avLst/>
          </a:prstGeom>
          <a:noFill/>
        </p:spPr>
        <p:txBody>
          <a:bodyPr wrap="square">
            <a:spAutoFit/>
          </a:bodyPr>
          <a:lstStyle/>
          <a:p>
            <a:pPr algn="l">
              <a:defRPr sz="1150" b="0">
                <a:solidFill>
                  <a:srgbClr val="232A34"/>
                </a:solidFill>
              </a:defRPr>
            </a:pPr>
            <a:r>
              <a:t>Byte-level n-grams</a:t>
            </a:r>
          </a:p>
        </p:txBody>
      </p:sp>
      <p:sp>
        <p:nvSpPr>
          <p:cNvPr id="56" name="Rectangle 55"/>
          <p:cNvSpPr/>
          <p:nvPr/>
        </p:nvSpPr>
        <p:spPr>
          <a:xfrm>
            <a:off x="6812280" y="5074920"/>
            <a:ext cx="5303520" cy="804672"/>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885432" y="5166359"/>
            <a:ext cx="5157216" cy="621792"/>
          </a:xfrm>
          <a:prstGeom prst="rect">
            <a:avLst/>
          </a:prstGeom>
          <a:noFill/>
        </p:spPr>
        <p:txBody>
          <a:bodyPr wrap="square">
            <a:spAutoFit/>
          </a:bodyPr>
          <a:lstStyle/>
          <a:p>
            <a:pPr algn="l">
              <a:defRPr sz="1150" b="0">
                <a:solidFill>
                  <a:srgbClr val="232A34"/>
                </a:solidFill>
              </a:defRPr>
            </a:pPr>
            <a:r>
              <a:t>Language-independent comparison</a:t>
            </a:r>
          </a:p>
        </p:txBody>
      </p:sp>
      <p:sp>
        <p:nvSpPr>
          <p:cNvPr id="58" name="Rectangle 57"/>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3. Research Gap</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What existing approaches do not provide together</a:t>
            </a:r>
          </a:p>
        </p:txBody>
      </p:sp>
      <p:sp>
        <p:nvSpPr>
          <p:cNvPr id="6" name="Rounded Rectangle 5"/>
          <p:cNvSpPr/>
          <p:nvPr/>
        </p:nvSpPr>
        <p:spPr>
          <a:xfrm>
            <a:off x="594360" y="1143000"/>
            <a:ext cx="3520440" cy="45262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143000"/>
            <a:ext cx="73152" cy="4526280"/>
          </a:xfrm>
          <a:prstGeom prst="rect">
            <a:avLst/>
          </a:prstGeom>
          <a:solidFill>
            <a:srgbClr val="CD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289304"/>
            <a:ext cx="3200400" cy="320040"/>
          </a:xfrm>
          <a:prstGeom prst="rect">
            <a:avLst/>
          </a:prstGeom>
          <a:noFill/>
        </p:spPr>
        <p:txBody>
          <a:bodyPr wrap="square">
            <a:spAutoFit/>
          </a:bodyPr>
          <a:lstStyle/>
          <a:p>
            <a:pPr algn="l">
              <a:defRPr sz="1700" b="1">
                <a:solidFill>
                  <a:srgbClr val="11233F"/>
                </a:solidFill>
              </a:defRPr>
            </a:pPr>
            <a:r>
              <a:t>Existing Limitations</a:t>
            </a:r>
          </a:p>
        </p:txBody>
      </p:sp>
      <p:sp>
        <p:nvSpPr>
          <p:cNvPr id="9" name="TextBox 8"/>
          <p:cNvSpPr txBox="1"/>
          <p:nvPr/>
        </p:nvSpPr>
        <p:spPr>
          <a:xfrm>
            <a:off x="795528" y="1691640"/>
            <a:ext cx="3172968" cy="3867912"/>
          </a:xfrm>
          <a:prstGeom prst="rect">
            <a:avLst/>
          </a:prstGeom>
          <a:noFill/>
        </p:spPr>
        <p:txBody>
          <a:bodyPr wrap="square">
            <a:spAutoFit/>
          </a:bodyPr>
          <a:lstStyle/>
          <a:p>
            <a:pPr algn="l">
              <a:defRPr sz="1500" b="0">
                <a:solidFill>
                  <a:srgbClr val="232A34"/>
                </a:solidFill>
              </a:defRPr>
            </a:pPr>
            <a:r>
              <a:t>• Text approaches may focus on similarity without practical document workflow.</a:t>
            </a:r>
            <a:br/>
            <a:br/>
            <a:r>
              <a:t>• Code-focused methods may not cover mixed submission types.</a:t>
            </a:r>
            <a:br/>
            <a:br/>
            <a:r>
              <a:t>• Some systems require specialized infrastructure.</a:t>
            </a:r>
            <a:br/>
            <a:br/>
            <a:r>
              <a:t>• Academic users need simple, actionable comparison results.</a:t>
            </a:r>
          </a:p>
        </p:txBody>
      </p:sp>
      <p:sp>
        <p:nvSpPr>
          <p:cNvPr id="10" name="Rounded Rectangle 9"/>
          <p:cNvSpPr/>
          <p:nvPr/>
        </p:nvSpPr>
        <p:spPr>
          <a:xfrm>
            <a:off x="4343400" y="1143000"/>
            <a:ext cx="3520440" cy="45262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143000"/>
            <a:ext cx="73152" cy="4526280"/>
          </a:xfrm>
          <a:prstGeom prst="rect">
            <a:avLst/>
          </a:prstGeom>
          <a:solidFill>
            <a:srgbClr val="DA9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1289304"/>
            <a:ext cx="3200400" cy="320040"/>
          </a:xfrm>
          <a:prstGeom prst="rect">
            <a:avLst/>
          </a:prstGeom>
          <a:noFill/>
        </p:spPr>
        <p:txBody>
          <a:bodyPr wrap="square">
            <a:spAutoFit/>
          </a:bodyPr>
          <a:lstStyle/>
          <a:p>
            <a:pPr algn="l">
              <a:defRPr sz="1700" b="1">
                <a:solidFill>
                  <a:srgbClr val="11233F"/>
                </a:solidFill>
              </a:defRPr>
            </a:pPr>
            <a:r>
              <a:t>Gap Identified</a:t>
            </a:r>
          </a:p>
        </p:txBody>
      </p:sp>
      <p:sp>
        <p:nvSpPr>
          <p:cNvPr id="13" name="TextBox 12"/>
          <p:cNvSpPr txBox="1"/>
          <p:nvPr/>
        </p:nvSpPr>
        <p:spPr>
          <a:xfrm>
            <a:off x="4544568" y="1691640"/>
            <a:ext cx="3172968" cy="3867912"/>
          </a:xfrm>
          <a:prstGeom prst="rect">
            <a:avLst/>
          </a:prstGeom>
          <a:noFill/>
        </p:spPr>
        <p:txBody>
          <a:bodyPr wrap="square">
            <a:spAutoFit/>
          </a:bodyPr>
          <a:lstStyle/>
          <a:p>
            <a:pPr algn="l">
              <a:defRPr sz="1700" b="0">
                <a:solidFill>
                  <a:srgbClr val="232A34"/>
                </a:solidFill>
              </a:defRPr>
            </a:pPr>
            <a:r>
              <a:t>A practical integrated system should combine multiple similarity signals instead of relying on a single comparison technique.</a:t>
            </a:r>
          </a:p>
        </p:txBody>
      </p:sp>
      <p:sp>
        <p:nvSpPr>
          <p:cNvPr id="14" name="Rounded Rectangle 13"/>
          <p:cNvSpPr/>
          <p:nvPr/>
        </p:nvSpPr>
        <p:spPr>
          <a:xfrm>
            <a:off x="8092440" y="1143000"/>
            <a:ext cx="3520440" cy="45262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143000"/>
            <a:ext cx="73152" cy="4526280"/>
          </a:xfrm>
          <a:prstGeom prst="rect">
            <a:avLst/>
          </a:prstGeom>
          <a:solidFill>
            <a:srgbClr val="2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289304"/>
            <a:ext cx="3200400" cy="320040"/>
          </a:xfrm>
          <a:prstGeom prst="rect">
            <a:avLst/>
          </a:prstGeom>
          <a:noFill/>
        </p:spPr>
        <p:txBody>
          <a:bodyPr wrap="square">
            <a:spAutoFit/>
          </a:bodyPr>
          <a:lstStyle/>
          <a:p>
            <a:pPr algn="l">
              <a:defRPr sz="1700" b="1">
                <a:solidFill>
                  <a:srgbClr val="11233F"/>
                </a:solidFill>
              </a:defRPr>
            </a:pPr>
            <a:r>
              <a:t>Our Response</a:t>
            </a:r>
          </a:p>
        </p:txBody>
      </p:sp>
      <p:sp>
        <p:nvSpPr>
          <p:cNvPr id="17" name="TextBox 16"/>
          <p:cNvSpPr txBox="1"/>
          <p:nvPr/>
        </p:nvSpPr>
        <p:spPr>
          <a:xfrm>
            <a:off x="8293608" y="1691640"/>
            <a:ext cx="3172968" cy="3867912"/>
          </a:xfrm>
          <a:prstGeom prst="rect">
            <a:avLst/>
          </a:prstGeom>
          <a:noFill/>
        </p:spPr>
        <p:txBody>
          <a:bodyPr wrap="square">
            <a:spAutoFit/>
          </a:bodyPr>
          <a:lstStyle/>
          <a:p>
            <a:pPr algn="l">
              <a:defRPr sz="1500" b="0">
                <a:solidFill>
                  <a:srgbClr val="232A34"/>
                </a:solidFill>
              </a:defRPr>
            </a:pPr>
            <a:r>
              <a:t>The Java prototype combines:</a:t>
            </a:r>
            <a:br/>
            <a:br/>
            <a:r>
              <a:t>• TF-IDF + Cosine Similarity</a:t>
            </a:r>
            <a:br/>
            <a:r>
              <a:t>• String / Sequence Matching</a:t>
            </a:r>
            <a:br/>
            <a:r>
              <a:t>• N-Gram Similarity</a:t>
            </a:r>
            <a:br/>
            <a:r>
              <a:t>• Weighted final score</a:t>
            </a:r>
            <a:br/>
            <a:r>
              <a:t>• Low / Medium / High classification</a:t>
            </a:r>
          </a:p>
        </p:txBody>
      </p:sp>
      <p:sp>
        <p:nvSpPr>
          <p:cNvPr id="18" name="Rectangle 17"/>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4. Proposed System</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Simple Java-based DSA prototype</a:t>
            </a:r>
          </a:p>
        </p:txBody>
      </p:sp>
      <p:sp>
        <p:nvSpPr>
          <p:cNvPr id="6" name="Rounded Rectangle 5"/>
          <p:cNvSpPr/>
          <p:nvPr/>
        </p:nvSpPr>
        <p:spPr>
          <a:xfrm>
            <a:off x="594360" y="2331720"/>
            <a:ext cx="1508760" cy="731520"/>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1233F"/>
                </a:solidFill>
              </a:defRPr>
            </a:pPr>
            <a:r>
              <a:t>Student</a:t>
            </a:r>
            <a:br/>
            <a:r>
              <a:t>Submission 1</a:t>
            </a:r>
          </a:p>
        </p:txBody>
      </p:sp>
      <p:sp>
        <p:nvSpPr>
          <p:cNvPr id="7" name="Rounded Rectangle 6"/>
          <p:cNvSpPr/>
          <p:nvPr/>
        </p:nvSpPr>
        <p:spPr>
          <a:xfrm>
            <a:off x="594360" y="3429000"/>
            <a:ext cx="1508760" cy="731520"/>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1233F"/>
                </a:solidFill>
              </a:defRPr>
            </a:pPr>
            <a:r>
              <a:t>Student</a:t>
            </a:r>
            <a:br/>
            <a:r>
              <a:t>Submission 2</a:t>
            </a:r>
          </a:p>
        </p:txBody>
      </p:sp>
      <p:cxnSp>
        <p:nvCxnSpPr>
          <p:cNvPr id="8" name="Connector 7"/>
          <p:cNvCxnSpPr/>
          <p:nvPr/>
        </p:nvCxnSpPr>
        <p:spPr>
          <a:xfrm>
            <a:off x="2148840" y="2697480"/>
            <a:ext cx="594360"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48840" y="3794760"/>
            <a:ext cx="594360"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43200" y="2926080"/>
            <a:ext cx="1417320" cy="731520"/>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1233F"/>
                </a:solidFill>
              </a:defRPr>
            </a:pPr>
            <a:r>
              <a:t>Document</a:t>
            </a:r>
            <a:br/>
            <a:r>
              <a:t>Reader</a:t>
            </a:r>
          </a:p>
        </p:txBody>
      </p:sp>
      <p:cxnSp>
        <p:nvCxnSpPr>
          <p:cNvPr id="11" name="Connector 10"/>
          <p:cNvCxnSpPr/>
          <p:nvPr/>
        </p:nvCxnSpPr>
        <p:spPr>
          <a:xfrm>
            <a:off x="4251960" y="3291840"/>
            <a:ext cx="502920"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54880" y="2926080"/>
            <a:ext cx="1600200" cy="731520"/>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1233F"/>
                </a:solidFill>
              </a:defRPr>
            </a:pPr>
            <a:r>
              <a:t>Text Cleaning</a:t>
            </a:r>
            <a:br/>
            <a:r>
              <a:t>&amp; Tokenization</a:t>
            </a:r>
          </a:p>
        </p:txBody>
      </p:sp>
      <p:cxnSp>
        <p:nvCxnSpPr>
          <p:cNvPr id="13" name="Connector 12"/>
          <p:cNvCxnSpPr/>
          <p:nvPr/>
        </p:nvCxnSpPr>
        <p:spPr>
          <a:xfrm>
            <a:off x="6446520" y="3291840"/>
            <a:ext cx="457200"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903720" y="2926080"/>
            <a:ext cx="1508760" cy="731520"/>
          </a:xfrm>
          <a:prstGeom prst="roundRect">
            <a:avLst/>
          </a:prstGeom>
          <a:solidFill>
            <a:srgbClr val="E0F2F5"/>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1233F"/>
                </a:solidFill>
              </a:defRPr>
            </a:pPr>
            <a:r>
              <a:t>Similarity</a:t>
            </a:r>
            <a:br/>
            <a:r>
              <a:t>Engine</a:t>
            </a:r>
          </a:p>
        </p:txBody>
      </p:sp>
      <p:cxnSp>
        <p:nvCxnSpPr>
          <p:cNvPr id="15" name="Connector 14"/>
          <p:cNvCxnSpPr/>
          <p:nvPr/>
        </p:nvCxnSpPr>
        <p:spPr>
          <a:xfrm>
            <a:off x="8503920" y="3291840"/>
            <a:ext cx="457200"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961120" y="2926080"/>
            <a:ext cx="1508760" cy="731520"/>
          </a:xfrm>
          <a:prstGeom prst="roundRect">
            <a:avLst/>
          </a:prstGeom>
          <a:solidFill>
            <a:srgbClr val="E7F7ED"/>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1233F"/>
                </a:solidFill>
              </a:defRPr>
            </a:pPr>
            <a:r>
              <a:t>Final Score</a:t>
            </a:r>
            <a:br/>
            <a:r>
              <a:t>&amp; Class</a:t>
            </a:r>
          </a:p>
        </p:txBody>
      </p:sp>
      <p:sp>
        <p:nvSpPr>
          <p:cNvPr id="17" name="TextBox 16"/>
          <p:cNvSpPr txBox="1"/>
          <p:nvPr/>
        </p:nvSpPr>
        <p:spPr>
          <a:xfrm>
            <a:off x="1463040" y="4754880"/>
            <a:ext cx="9326880" cy="502920"/>
          </a:xfrm>
          <a:prstGeom prst="rect">
            <a:avLst/>
          </a:prstGeom>
          <a:noFill/>
        </p:spPr>
        <p:txBody>
          <a:bodyPr wrap="square">
            <a:spAutoFit/>
          </a:bodyPr>
          <a:lstStyle/>
          <a:p>
            <a:pPr algn="ctr">
              <a:defRPr sz="1500" b="1">
                <a:solidFill>
                  <a:srgbClr val="11233F"/>
                </a:solidFill>
              </a:defRPr>
            </a:pPr>
            <a:r>
              <a:t>Current implementation: console-based Java application using local text/source files.</a:t>
            </a:r>
          </a:p>
        </p:txBody>
      </p:sp>
      <p:sp>
        <p:nvSpPr>
          <p:cNvPr id="18" name="TextBox 17"/>
          <p:cNvSpPr txBox="1"/>
          <p:nvPr/>
        </p:nvSpPr>
        <p:spPr>
          <a:xfrm>
            <a:off x="1097280" y="5257800"/>
            <a:ext cx="10058400" cy="548640"/>
          </a:xfrm>
          <a:prstGeom prst="rect">
            <a:avLst/>
          </a:prstGeom>
          <a:noFill/>
        </p:spPr>
        <p:txBody>
          <a:bodyPr wrap="square">
            <a:spAutoFit/>
          </a:bodyPr>
          <a:lstStyle/>
          <a:p>
            <a:pPr algn="ctr">
              <a:defRPr sz="1300" b="0">
                <a:solidFill>
                  <a:srgbClr val="646E7A"/>
                </a:solidFill>
              </a:defRPr>
            </a:pPr>
            <a:r>
              <a:t>The research concept can later be extended to PDF/DOCX extraction and a GUI without changing the similarity engine.</a:t>
            </a:r>
          </a:p>
        </p:txBody>
      </p:sp>
      <p:sp>
        <p:nvSpPr>
          <p:cNvPr id="19" name="Rectangle 18"/>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9832"/>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a:t>— 9-Step Pipeline</a:t>
            </a: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2300053" cy="477054"/>
          </a:xfrm>
          <a:prstGeom prst="rect">
            <a:avLst/>
          </a:prstGeom>
          <a:noFill/>
        </p:spPr>
        <p:txBody>
          <a:bodyPr wrap="none">
            <a:spAutoFit/>
          </a:bodyPr>
          <a:lstStyle/>
          <a:p>
            <a:pPr>
              <a:defRPr sz="2500" b="1">
                <a:solidFill>
                  <a:srgbClr val="FFFFFF"/>
                </a:solidFill>
              </a:defRPr>
            </a:pPr>
            <a:r>
              <a:t>5. Methodology</a:t>
            </a:r>
          </a:p>
        </p:txBody>
      </p:sp>
      <p:sp>
        <p:nvSpPr>
          <p:cNvPr id="5" name="TextBox 4"/>
          <p:cNvSpPr txBox="1"/>
          <p:nvPr/>
        </p:nvSpPr>
        <p:spPr>
          <a:xfrm>
            <a:off x="411480" y="1490367"/>
            <a:ext cx="5010987" cy="338554"/>
          </a:xfrm>
          <a:prstGeom prst="rect">
            <a:avLst/>
          </a:prstGeom>
          <a:noFill/>
        </p:spPr>
        <p:txBody>
          <a:bodyPr wrap="none">
            <a:spAutoFit/>
          </a:bodyPr>
          <a:lstStyle/>
          <a:p>
            <a:pPr>
              <a:defRPr sz="1100">
                <a:solidFill>
                  <a:srgbClr val="646E7A"/>
                </a:solidFill>
              </a:defRPr>
            </a:pPr>
            <a:r>
              <a:rPr sz="1600"/>
              <a:t>End-to-end processing implemented in the Java prototype</a:t>
            </a:r>
          </a:p>
        </p:txBody>
      </p:sp>
      <p:sp>
        <p:nvSpPr>
          <p:cNvPr id="6" name="Rounded Rectangle 5"/>
          <p:cNvSpPr/>
          <p:nvPr/>
        </p:nvSpPr>
        <p:spPr>
          <a:xfrm>
            <a:off x="411480" y="1965960"/>
            <a:ext cx="1115568" cy="960120"/>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1. Select</a:t>
            </a:r>
            <a:br/>
            <a:r>
              <a:t>files</a:t>
            </a:r>
          </a:p>
        </p:txBody>
      </p:sp>
      <p:cxnSp>
        <p:nvCxnSpPr>
          <p:cNvPr id="7" name="Connector 6"/>
          <p:cNvCxnSpPr/>
          <p:nvPr/>
        </p:nvCxnSpPr>
        <p:spPr>
          <a:xfrm>
            <a:off x="1536192" y="2450592"/>
            <a:ext cx="155447"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709928" y="1965960"/>
            <a:ext cx="1115568" cy="960120"/>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2. Read</a:t>
            </a:r>
            <a:br/>
            <a:r>
              <a:t>submissions</a:t>
            </a:r>
          </a:p>
        </p:txBody>
      </p:sp>
      <p:cxnSp>
        <p:nvCxnSpPr>
          <p:cNvPr id="9" name="Connector 8"/>
          <p:cNvCxnSpPr/>
          <p:nvPr/>
        </p:nvCxnSpPr>
        <p:spPr>
          <a:xfrm>
            <a:off x="2834639" y="2450592"/>
            <a:ext cx="155448"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008376" y="1965960"/>
            <a:ext cx="1115568" cy="960120"/>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3. Clean</a:t>
            </a:r>
            <a:br/>
            <a:r>
              <a:t>text</a:t>
            </a:r>
          </a:p>
        </p:txBody>
      </p:sp>
      <p:cxnSp>
        <p:nvCxnSpPr>
          <p:cNvPr id="11" name="Connector 10"/>
          <p:cNvCxnSpPr/>
          <p:nvPr/>
        </p:nvCxnSpPr>
        <p:spPr>
          <a:xfrm>
            <a:off x="4133087" y="2450592"/>
            <a:ext cx="155449"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06824" y="1965960"/>
            <a:ext cx="1115568" cy="960120"/>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4. Tokenize</a:t>
            </a:r>
            <a:br/>
            <a:r>
              <a:t>text</a:t>
            </a:r>
          </a:p>
        </p:txBody>
      </p:sp>
      <p:cxnSp>
        <p:nvCxnSpPr>
          <p:cNvPr id="13" name="Connector 12"/>
          <p:cNvCxnSpPr/>
          <p:nvPr/>
        </p:nvCxnSpPr>
        <p:spPr>
          <a:xfrm>
            <a:off x="5431536" y="2450592"/>
            <a:ext cx="155447"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605272" y="1965960"/>
            <a:ext cx="1115568" cy="960120"/>
          </a:xfrm>
          <a:prstGeom prst="roundRect">
            <a:avLst/>
          </a:prstGeom>
          <a:solidFill>
            <a:srgbClr val="E8F4F7"/>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5. Build</a:t>
            </a:r>
            <a:br>
              <a:rPr/>
            </a:br>
            <a:r>
              <a:t>TF-IDF</a:t>
            </a:r>
          </a:p>
        </p:txBody>
      </p:sp>
      <p:cxnSp>
        <p:nvCxnSpPr>
          <p:cNvPr id="15" name="Connector 14"/>
          <p:cNvCxnSpPr/>
          <p:nvPr/>
        </p:nvCxnSpPr>
        <p:spPr>
          <a:xfrm>
            <a:off x="6729983" y="2450592"/>
            <a:ext cx="155448"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903720" y="1965960"/>
            <a:ext cx="1115568" cy="960120"/>
          </a:xfrm>
          <a:prstGeom prst="roundRect">
            <a:avLst/>
          </a:prstGeom>
          <a:solidFill>
            <a:srgbClr val="E8F4F7"/>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6. Cosine</a:t>
            </a:r>
            <a:br/>
            <a:r>
              <a:t>similarity</a:t>
            </a:r>
          </a:p>
        </p:txBody>
      </p:sp>
      <p:cxnSp>
        <p:nvCxnSpPr>
          <p:cNvPr id="17" name="Connector 16"/>
          <p:cNvCxnSpPr/>
          <p:nvPr/>
        </p:nvCxnSpPr>
        <p:spPr>
          <a:xfrm>
            <a:off x="8028431" y="2450592"/>
            <a:ext cx="155448"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202167" y="1965960"/>
            <a:ext cx="1115568" cy="960120"/>
          </a:xfrm>
          <a:prstGeom prst="roundRect">
            <a:avLst/>
          </a:prstGeom>
          <a:solidFill>
            <a:srgbClr val="E8F4F7"/>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7. String /</a:t>
            </a:r>
            <a:br/>
            <a:r>
              <a:t>LCS match</a:t>
            </a:r>
          </a:p>
        </p:txBody>
      </p:sp>
      <p:cxnSp>
        <p:nvCxnSpPr>
          <p:cNvPr id="19" name="Connector 18"/>
          <p:cNvCxnSpPr/>
          <p:nvPr/>
        </p:nvCxnSpPr>
        <p:spPr>
          <a:xfrm>
            <a:off x="9326880" y="2450592"/>
            <a:ext cx="155448"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500615" y="1965960"/>
            <a:ext cx="1115568" cy="960120"/>
          </a:xfrm>
          <a:prstGeom prst="roundRect">
            <a:avLst/>
          </a:prstGeom>
          <a:solidFill>
            <a:srgbClr val="E8F4F7"/>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8. N-Gram</a:t>
            </a:r>
            <a:br/>
            <a:r>
              <a:t>match</a:t>
            </a:r>
          </a:p>
        </p:txBody>
      </p:sp>
      <p:cxnSp>
        <p:nvCxnSpPr>
          <p:cNvPr id="21" name="Connector 20"/>
          <p:cNvCxnSpPr/>
          <p:nvPr/>
        </p:nvCxnSpPr>
        <p:spPr>
          <a:xfrm>
            <a:off x="10625328" y="2450592"/>
            <a:ext cx="155448" cy="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799063" y="1965960"/>
            <a:ext cx="1115568" cy="960120"/>
          </a:xfrm>
          <a:prstGeom prst="roundRect">
            <a:avLst/>
          </a:prstGeom>
          <a:solidFill>
            <a:srgbClr val="E8F7ED"/>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9. Combine &amp;</a:t>
            </a:r>
            <a:br/>
            <a:r>
              <a:t>classify</a:t>
            </a:r>
          </a:p>
        </p:txBody>
      </p:sp>
      <p:sp>
        <p:nvSpPr>
          <p:cNvPr id="23" name="TextBox 22"/>
          <p:cNvSpPr txBox="1"/>
          <p:nvPr/>
        </p:nvSpPr>
        <p:spPr>
          <a:xfrm>
            <a:off x="1005840" y="3794760"/>
            <a:ext cx="10149840" cy="594360"/>
          </a:xfrm>
          <a:prstGeom prst="rect">
            <a:avLst/>
          </a:prstGeom>
          <a:noFill/>
        </p:spPr>
        <p:txBody>
          <a:bodyPr wrap="square">
            <a:spAutoFit/>
          </a:bodyPr>
          <a:lstStyle/>
          <a:p>
            <a:pPr algn="ctr">
              <a:defRPr sz="1700" b="1">
                <a:solidFill>
                  <a:srgbClr val="11233F"/>
                </a:solidFill>
              </a:defRPr>
            </a:pPr>
            <a:r>
              <a:t>Output: a transparent similarity score for each document pair, with an instructor-review classification.</a:t>
            </a:r>
          </a:p>
        </p:txBody>
      </p:sp>
      <p:sp>
        <p:nvSpPr>
          <p:cNvPr id="24" name="Rectangle 23"/>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6</a:t>
            </a:r>
          </a:p>
        </p:txBody>
      </p:sp>
      <p:sp>
        <p:nvSpPr>
          <p:cNvPr id="26" name="TextBox 25">
            <a:extLst>
              <a:ext uri="{FF2B5EF4-FFF2-40B4-BE49-F238E27FC236}">
                <a16:creationId xmlns:a16="http://schemas.microsoft.com/office/drawing/2014/main" id="{0E280D8E-C958-D6DE-D1AA-91DDD4858FE0}"/>
              </a:ext>
            </a:extLst>
          </p:cNvPr>
          <p:cNvSpPr txBox="1"/>
          <p:nvPr/>
        </p:nvSpPr>
        <p:spPr>
          <a:xfrm>
            <a:off x="1709928" y="696510"/>
            <a:ext cx="4563053" cy="461665"/>
          </a:xfrm>
          <a:prstGeom prst="rect">
            <a:avLst/>
          </a:prstGeom>
          <a:noFill/>
        </p:spPr>
        <p:txBody>
          <a:bodyPr wrap="square" rtlCol="0">
            <a:spAutoFit/>
          </a:bodyPr>
          <a:lstStyle/>
          <a:p>
            <a:r>
              <a:rPr lang="en-IN" sz="2400"/>
              <a:t>— 9-Step Pipeline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6. Text Preprocessing</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Converting raw submissions into comparable tokens</a:t>
            </a:r>
          </a:p>
        </p:txBody>
      </p:sp>
      <p:sp>
        <p:nvSpPr>
          <p:cNvPr id="6" name="Rounded Rectangle 5"/>
          <p:cNvSpPr/>
          <p:nvPr/>
        </p:nvSpPr>
        <p:spPr>
          <a:xfrm>
            <a:off x="640080" y="1234440"/>
            <a:ext cx="3291840" cy="43891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234440"/>
            <a:ext cx="73152" cy="438912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380744"/>
            <a:ext cx="2971800" cy="320040"/>
          </a:xfrm>
          <a:prstGeom prst="rect">
            <a:avLst/>
          </a:prstGeom>
          <a:noFill/>
        </p:spPr>
        <p:txBody>
          <a:bodyPr wrap="square">
            <a:spAutoFit/>
          </a:bodyPr>
          <a:lstStyle/>
          <a:p>
            <a:pPr algn="l">
              <a:defRPr sz="1700" b="1">
                <a:solidFill>
                  <a:srgbClr val="11233F"/>
                </a:solidFill>
              </a:defRPr>
            </a:pPr>
            <a:r>
              <a:t>Step A — Cleaning</a:t>
            </a:r>
          </a:p>
        </p:txBody>
      </p:sp>
      <p:sp>
        <p:nvSpPr>
          <p:cNvPr id="9" name="TextBox 8"/>
          <p:cNvSpPr txBox="1"/>
          <p:nvPr/>
        </p:nvSpPr>
        <p:spPr>
          <a:xfrm>
            <a:off x="841247" y="1783080"/>
            <a:ext cx="2944368" cy="3730752"/>
          </a:xfrm>
          <a:prstGeom prst="rect">
            <a:avLst/>
          </a:prstGeom>
          <a:noFill/>
        </p:spPr>
        <p:txBody>
          <a:bodyPr wrap="square">
            <a:spAutoFit/>
          </a:bodyPr>
          <a:lstStyle/>
          <a:p>
            <a:pPr algn="l">
              <a:defRPr sz="1500" b="0">
                <a:solidFill>
                  <a:srgbClr val="232A34"/>
                </a:solidFill>
              </a:defRPr>
            </a:pPr>
            <a:r>
              <a:t>1. Convert text to lowercase</a:t>
            </a:r>
            <a:br/>
            <a:r>
              <a:t>2. Replace punctuation/special characters with spaces</a:t>
            </a:r>
            <a:br/>
            <a:r>
              <a:t>3. Remove extra spaces</a:t>
            </a:r>
            <a:br/>
            <a:r>
              <a:t>4. Keep alphanumeric and underscore tokens</a:t>
            </a:r>
          </a:p>
        </p:txBody>
      </p:sp>
      <p:sp>
        <p:nvSpPr>
          <p:cNvPr id="10" name="Rounded Rectangle 9"/>
          <p:cNvSpPr/>
          <p:nvPr/>
        </p:nvSpPr>
        <p:spPr>
          <a:xfrm>
            <a:off x="4434840" y="1234440"/>
            <a:ext cx="3291840" cy="43891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234440"/>
            <a:ext cx="73152" cy="4389120"/>
          </a:xfrm>
          <a:prstGeom prst="rect">
            <a:avLst/>
          </a:prstGeom>
          <a:solidFill>
            <a:srgbClr val="41A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7" y="1380744"/>
            <a:ext cx="2971800" cy="320040"/>
          </a:xfrm>
          <a:prstGeom prst="rect">
            <a:avLst/>
          </a:prstGeom>
          <a:noFill/>
        </p:spPr>
        <p:txBody>
          <a:bodyPr wrap="square">
            <a:spAutoFit/>
          </a:bodyPr>
          <a:lstStyle/>
          <a:p>
            <a:pPr algn="l">
              <a:defRPr sz="1700" b="1">
                <a:solidFill>
                  <a:srgbClr val="11233F"/>
                </a:solidFill>
              </a:defRPr>
            </a:pPr>
            <a:r>
              <a:t>Step B — Tokenization</a:t>
            </a:r>
          </a:p>
        </p:txBody>
      </p:sp>
      <p:sp>
        <p:nvSpPr>
          <p:cNvPr id="13" name="TextBox 12"/>
          <p:cNvSpPr txBox="1"/>
          <p:nvPr/>
        </p:nvSpPr>
        <p:spPr>
          <a:xfrm>
            <a:off x="4636007" y="1783080"/>
            <a:ext cx="2944368" cy="3730752"/>
          </a:xfrm>
          <a:prstGeom prst="rect">
            <a:avLst/>
          </a:prstGeom>
          <a:noFill/>
        </p:spPr>
        <p:txBody>
          <a:bodyPr wrap="square">
            <a:spAutoFit/>
          </a:bodyPr>
          <a:lstStyle/>
          <a:p>
            <a:pPr algn="l">
              <a:defRPr sz="1500" b="0">
                <a:solidFill>
                  <a:srgbClr val="232A34"/>
                </a:solidFill>
              </a:defRPr>
            </a:pPr>
            <a:r>
              <a:t>The cleaned text is split into individual words/tokens.</a:t>
            </a:r>
            <a:br/>
            <a:br/>
            <a:r>
              <a:t>Example:</a:t>
            </a:r>
            <a:br/>
            <a:br/>
            <a:r>
              <a:t>"The system calculates similarity"</a:t>
            </a:r>
            <a:br/>
            <a:br/>
            <a:r>
              <a:t>→ system</a:t>
            </a:r>
            <a:br/>
            <a:r>
              <a:t>→ calculates</a:t>
            </a:r>
            <a:br/>
            <a:r>
              <a:t>→ similarity</a:t>
            </a:r>
          </a:p>
        </p:txBody>
      </p:sp>
      <p:sp>
        <p:nvSpPr>
          <p:cNvPr id="14" name="Rounded Rectangle 13"/>
          <p:cNvSpPr/>
          <p:nvPr/>
        </p:nvSpPr>
        <p:spPr>
          <a:xfrm>
            <a:off x="8229600" y="1234440"/>
            <a:ext cx="3291840" cy="43891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0" y="1234440"/>
            <a:ext cx="73152" cy="4389120"/>
          </a:xfrm>
          <a:prstGeom prst="rect">
            <a:avLst/>
          </a:prstGeom>
          <a:solidFill>
            <a:srgbClr val="745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0768" y="1380744"/>
            <a:ext cx="2971800" cy="320040"/>
          </a:xfrm>
          <a:prstGeom prst="rect">
            <a:avLst/>
          </a:prstGeom>
          <a:noFill/>
        </p:spPr>
        <p:txBody>
          <a:bodyPr wrap="square">
            <a:spAutoFit/>
          </a:bodyPr>
          <a:lstStyle/>
          <a:p>
            <a:pPr algn="l">
              <a:defRPr sz="1700" b="1">
                <a:solidFill>
                  <a:srgbClr val="11233F"/>
                </a:solidFill>
              </a:defRPr>
            </a:pPr>
            <a:r>
              <a:t>Step C — Stop Words</a:t>
            </a:r>
          </a:p>
        </p:txBody>
      </p:sp>
      <p:sp>
        <p:nvSpPr>
          <p:cNvPr id="17" name="TextBox 16"/>
          <p:cNvSpPr txBox="1"/>
          <p:nvPr/>
        </p:nvSpPr>
        <p:spPr>
          <a:xfrm>
            <a:off x="8430768" y="1783080"/>
            <a:ext cx="2944368" cy="3730752"/>
          </a:xfrm>
          <a:prstGeom prst="rect">
            <a:avLst/>
          </a:prstGeom>
          <a:noFill/>
        </p:spPr>
        <p:txBody>
          <a:bodyPr wrap="square">
            <a:spAutoFit/>
          </a:bodyPr>
          <a:lstStyle/>
          <a:p>
            <a:pPr algn="l">
              <a:defRPr sz="1500" b="0">
                <a:solidFill>
                  <a:srgbClr val="232A34"/>
                </a:solidFill>
              </a:defRPr>
            </a:pPr>
            <a:r>
              <a:t>Common words are removed using a predefined set such as:</a:t>
            </a:r>
            <a:br/>
            <a:br/>
            <a:r>
              <a:t>the, is, are, and, of, to, in, for...</a:t>
            </a:r>
            <a:br/>
            <a:br/>
            <a:r>
              <a:t>This focuses comparison on more informative terms.</a:t>
            </a:r>
          </a:p>
        </p:txBody>
      </p:sp>
      <p:sp>
        <p:nvSpPr>
          <p:cNvPr id="18" name="Rectangle 17"/>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7. Algorithm 1 — TF-IDF</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Term Frequency–Inverse Document Frequency</a:t>
            </a:r>
          </a:p>
        </p:txBody>
      </p:sp>
      <p:sp>
        <p:nvSpPr>
          <p:cNvPr id="6" name="TextBox 5"/>
          <p:cNvSpPr txBox="1"/>
          <p:nvPr/>
        </p:nvSpPr>
        <p:spPr>
          <a:xfrm>
            <a:off x="685800" y="1051560"/>
            <a:ext cx="10789920" cy="685800"/>
          </a:xfrm>
          <a:prstGeom prst="rect">
            <a:avLst/>
          </a:prstGeom>
          <a:noFill/>
        </p:spPr>
        <p:txBody>
          <a:bodyPr wrap="square">
            <a:spAutoFit/>
          </a:bodyPr>
          <a:lstStyle/>
          <a:p>
            <a:pPr algn="ctr">
              <a:defRPr sz="1800" b="0">
                <a:solidFill>
                  <a:srgbClr val="232A34"/>
                </a:solidFill>
              </a:defRPr>
            </a:pPr>
            <a:r>
              <a:t>TF-IDF assigns a numerical weight to each term based on how important it is in a document compared with the documents being compared.</a:t>
            </a:r>
          </a:p>
        </p:txBody>
      </p:sp>
      <p:sp>
        <p:nvSpPr>
          <p:cNvPr id="7" name="Rounded Rectangle 6"/>
          <p:cNvSpPr/>
          <p:nvPr/>
        </p:nvSpPr>
        <p:spPr>
          <a:xfrm>
            <a:off x="731520" y="1874519"/>
            <a:ext cx="3291840" cy="24231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874519"/>
            <a:ext cx="73152" cy="242316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020824"/>
            <a:ext cx="2971800" cy="320040"/>
          </a:xfrm>
          <a:prstGeom prst="rect">
            <a:avLst/>
          </a:prstGeom>
          <a:noFill/>
        </p:spPr>
        <p:txBody>
          <a:bodyPr wrap="square">
            <a:spAutoFit/>
          </a:bodyPr>
          <a:lstStyle/>
          <a:p>
            <a:pPr algn="l">
              <a:defRPr sz="1700" b="1">
                <a:solidFill>
                  <a:srgbClr val="11233F"/>
                </a:solidFill>
              </a:defRPr>
            </a:pPr>
            <a:r>
              <a:t>Term Frequency (TF)</a:t>
            </a:r>
          </a:p>
        </p:txBody>
      </p:sp>
      <p:sp>
        <p:nvSpPr>
          <p:cNvPr id="10" name="TextBox 9"/>
          <p:cNvSpPr txBox="1"/>
          <p:nvPr/>
        </p:nvSpPr>
        <p:spPr>
          <a:xfrm>
            <a:off x="932688" y="2423160"/>
            <a:ext cx="2944368" cy="1764792"/>
          </a:xfrm>
          <a:prstGeom prst="rect">
            <a:avLst/>
          </a:prstGeom>
          <a:noFill/>
        </p:spPr>
        <p:txBody>
          <a:bodyPr wrap="square">
            <a:spAutoFit/>
          </a:bodyPr>
          <a:lstStyle/>
          <a:p>
            <a:pPr algn="l">
              <a:defRPr sz="1600" b="0">
                <a:solidFill>
                  <a:srgbClr val="232A34"/>
                </a:solidFill>
              </a:defRPr>
            </a:pPr>
            <a:r>
              <a:t>Measures how often a term occurs in a document.</a:t>
            </a:r>
            <a:br/>
            <a:br/>
            <a:r>
              <a:t>TF = term occurrences / total terms</a:t>
            </a:r>
          </a:p>
        </p:txBody>
      </p:sp>
      <p:sp>
        <p:nvSpPr>
          <p:cNvPr id="11" name="Rounded Rectangle 10"/>
          <p:cNvSpPr/>
          <p:nvPr/>
        </p:nvSpPr>
        <p:spPr>
          <a:xfrm>
            <a:off x="4434840" y="1874519"/>
            <a:ext cx="3291840" cy="24231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874519"/>
            <a:ext cx="73152" cy="2423160"/>
          </a:xfrm>
          <a:prstGeom prst="rect">
            <a:avLst/>
          </a:prstGeom>
          <a:solidFill>
            <a:srgbClr val="41A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020824"/>
            <a:ext cx="2971800" cy="320040"/>
          </a:xfrm>
          <a:prstGeom prst="rect">
            <a:avLst/>
          </a:prstGeom>
          <a:noFill/>
        </p:spPr>
        <p:txBody>
          <a:bodyPr wrap="square">
            <a:spAutoFit/>
          </a:bodyPr>
          <a:lstStyle/>
          <a:p>
            <a:pPr algn="l">
              <a:defRPr sz="1700" b="1">
                <a:solidFill>
                  <a:srgbClr val="11233F"/>
                </a:solidFill>
              </a:defRPr>
            </a:pPr>
            <a:r>
              <a:t>Inverse Document Frequency</a:t>
            </a:r>
          </a:p>
        </p:txBody>
      </p:sp>
      <p:sp>
        <p:nvSpPr>
          <p:cNvPr id="14" name="TextBox 13"/>
          <p:cNvSpPr txBox="1"/>
          <p:nvPr/>
        </p:nvSpPr>
        <p:spPr>
          <a:xfrm>
            <a:off x="4636007" y="2423160"/>
            <a:ext cx="2944368" cy="1764792"/>
          </a:xfrm>
          <a:prstGeom prst="rect">
            <a:avLst/>
          </a:prstGeom>
          <a:noFill/>
        </p:spPr>
        <p:txBody>
          <a:bodyPr wrap="square">
            <a:spAutoFit/>
          </a:bodyPr>
          <a:lstStyle/>
          <a:p>
            <a:pPr algn="l">
              <a:defRPr sz="1500" b="0">
                <a:solidFill>
                  <a:srgbClr val="232A34"/>
                </a:solidFill>
              </a:defRPr>
            </a:pPr>
            <a:r>
              <a:t>Reduces the weight of terms that appear across both documents.</a:t>
            </a:r>
            <a:br/>
            <a:br/>
            <a:r>
              <a:t>The implementation uses smoothed IDF.</a:t>
            </a:r>
          </a:p>
        </p:txBody>
      </p:sp>
      <p:sp>
        <p:nvSpPr>
          <p:cNvPr id="15" name="Rounded Rectangle 14"/>
          <p:cNvSpPr/>
          <p:nvPr/>
        </p:nvSpPr>
        <p:spPr>
          <a:xfrm>
            <a:off x="8138160" y="1874519"/>
            <a:ext cx="3291840" cy="24231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874519"/>
            <a:ext cx="73152" cy="2423160"/>
          </a:xfrm>
          <a:prstGeom prst="rect">
            <a:avLst/>
          </a:prstGeom>
          <a:solidFill>
            <a:srgbClr val="745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2020824"/>
            <a:ext cx="2971800" cy="320040"/>
          </a:xfrm>
          <a:prstGeom prst="rect">
            <a:avLst/>
          </a:prstGeom>
          <a:noFill/>
        </p:spPr>
        <p:txBody>
          <a:bodyPr wrap="square">
            <a:spAutoFit/>
          </a:bodyPr>
          <a:lstStyle/>
          <a:p>
            <a:pPr algn="l">
              <a:defRPr sz="1700" b="1">
                <a:solidFill>
                  <a:srgbClr val="11233F"/>
                </a:solidFill>
              </a:defRPr>
            </a:pPr>
            <a:r>
              <a:t>TF-IDF Vector</a:t>
            </a:r>
          </a:p>
        </p:txBody>
      </p:sp>
      <p:sp>
        <p:nvSpPr>
          <p:cNvPr id="18" name="TextBox 17"/>
          <p:cNvSpPr txBox="1"/>
          <p:nvPr/>
        </p:nvSpPr>
        <p:spPr>
          <a:xfrm>
            <a:off x="8339328" y="2423160"/>
            <a:ext cx="2944368" cy="1764792"/>
          </a:xfrm>
          <a:prstGeom prst="rect">
            <a:avLst/>
          </a:prstGeom>
          <a:noFill/>
        </p:spPr>
        <p:txBody>
          <a:bodyPr wrap="square">
            <a:spAutoFit/>
          </a:bodyPr>
          <a:lstStyle/>
          <a:p>
            <a:pPr algn="l">
              <a:defRPr sz="1500" b="0">
                <a:solidFill>
                  <a:srgbClr val="232A34"/>
                </a:solidFill>
              </a:defRPr>
            </a:pPr>
            <a:r>
              <a:t>TF and IDF are multiplied to create numerical feature weights.</a:t>
            </a:r>
            <a:br/>
            <a:br/>
            <a:r>
              <a:t>These vectors become the input for cosine comparison.</a:t>
            </a:r>
          </a:p>
        </p:txBody>
      </p:sp>
      <p:sp>
        <p:nvSpPr>
          <p:cNvPr id="19" name="Rounded Rectangle 18"/>
          <p:cNvSpPr/>
          <p:nvPr/>
        </p:nvSpPr>
        <p:spPr>
          <a:xfrm>
            <a:off x="2743200" y="4709160"/>
            <a:ext cx="6675120" cy="685800"/>
          </a:xfrm>
          <a:prstGeom prst="roundRect">
            <a:avLst/>
          </a:prstGeom>
          <a:solidFill>
            <a:srgbClr val="191F28"/>
          </a:solidFill>
          <a:ln>
            <a:solidFill>
              <a:srgbClr val="4650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07792" y="4818888"/>
            <a:ext cx="6355080" cy="502920"/>
          </a:xfrm>
          <a:prstGeom prst="rect">
            <a:avLst/>
          </a:prstGeom>
          <a:noFill/>
        </p:spPr>
        <p:txBody>
          <a:bodyPr wrap="none">
            <a:spAutoFit/>
          </a:bodyPr>
          <a:lstStyle/>
          <a:p>
            <a:pPr>
              <a:defRPr sz="1800">
                <a:solidFill>
                  <a:srgbClr val="E1E8F0"/>
                </a:solidFill>
                <a:latin typeface="Consolas"/>
              </a:defRPr>
            </a:pPr>
            <a:r>
              <a:t>TF-IDF(term) = TF(term) × IDF(term)</a:t>
            </a:r>
          </a:p>
        </p:txBody>
      </p:sp>
      <p:sp>
        <p:nvSpPr>
          <p:cNvPr id="21" name="Rectangle 20"/>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8. Algorithm 2 — Cosine Similarity</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Comparing the direction of two TF-IDF vectors</a:t>
            </a:r>
          </a:p>
        </p:txBody>
      </p:sp>
      <p:sp>
        <p:nvSpPr>
          <p:cNvPr id="6" name="TextBox 5"/>
          <p:cNvSpPr txBox="1"/>
          <p:nvPr/>
        </p:nvSpPr>
        <p:spPr>
          <a:xfrm>
            <a:off x="822960" y="1051560"/>
            <a:ext cx="10515600" cy="457200"/>
          </a:xfrm>
          <a:prstGeom prst="rect">
            <a:avLst/>
          </a:prstGeom>
          <a:noFill/>
        </p:spPr>
        <p:txBody>
          <a:bodyPr wrap="square">
            <a:spAutoFit/>
          </a:bodyPr>
          <a:lstStyle/>
          <a:p>
            <a:pPr algn="ctr">
              <a:defRPr sz="1800" b="0">
                <a:solidFill>
                  <a:srgbClr val="232A34"/>
                </a:solidFill>
              </a:defRPr>
            </a:pPr>
            <a:r>
              <a:t>Cosine similarity measures how closely the two document vectors point in the same direction.</a:t>
            </a:r>
          </a:p>
        </p:txBody>
      </p:sp>
      <p:sp>
        <p:nvSpPr>
          <p:cNvPr id="7" name="Rounded Rectangle 6"/>
          <p:cNvSpPr/>
          <p:nvPr/>
        </p:nvSpPr>
        <p:spPr>
          <a:xfrm>
            <a:off x="2377440" y="1783080"/>
            <a:ext cx="7498079" cy="868680"/>
          </a:xfrm>
          <a:prstGeom prst="roundRect">
            <a:avLst/>
          </a:prstGeom>
          <a:solidFill>
            <a:srgbClr val="191F28"/>
          </a:solidFill>
          <a:ln>
            <a:solidFill>
              <a:srgbClr val="4650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42032" y="1892807"/>
            <a:ext cx="7178040" cy="685800"/>
          </a:xfrm>
          <a:prstGeom prst="rect">
            <a:avLst/>
          </a:prstGeom>
          <a:noFill/>
        </p:spPr>
        <p:txBody>
          <a:bodyPr wrap="none">
            <a:spAutoFit/>
          </a:bodyPr>
          <a:lstStyle/>
          <a:p>
            <a:pPr>
              <a:defRPr sz="2400">
                <a:solidFill>
                  <a:srgbClr val="E1E8F0"/>
                </a:solidFill>
                <a:latin typeface="Consolas"/>
              </a:defRPr>
            </a:pPr>
            <a:r>
              <a:t>cos(θ) = (A · B) / (||A|| × ||B||)</a:t>
            </a:r>
          </a:p>
        </p:txBody>
      </p:sp>
      <p:sp>
        <p:nvSpPr>
          <p:cNvPr id="9" name="Rounded Rectangle 8"/>
          <p:cNvSpPr/>
          <p:nvPr/>
        </p:nvSpPr>
        <p:spPr>
          <a:xfrm>
            <a:off x="777240" y="2971800"/>
            <a:ext cx="3291840" cy="24231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2971800"/>
            <a:ext cx="73152" cy="2423160"/>
          </a:xfrm>
          <a:prstGeom prst="rect">
            <a:avLst/>
          </a:prstGeom>
          <a:solidFill>
            <a:srgbClr val="2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118104"/>
            <a:ext cx="2971800" cy="320040"/>
          </a:xfrm>
          <a:prstGeom prst="rect">
            <a:avLst/>
          </a:prstGeom>
          <a:noFill/>
        </p:spPr>
        <p:txBody>
          <a:bodyPr wrap="square">
            <a:spAutoFit/>
          </a:bodyPr>
          <a:lstStyle/>
          <a:p>
            <a:pPr algn="l">
              <a:defRPr sz="1700" b="1">
                <a:solidFill>
                  <a:srgbClr val="11233F"/>
                </a:solidFill>
              </a:defRPr>
            </a:pPr>
            <a:r>
              <a:t>Near 1.0</a:t>
            </a:r>
          </a:p>
        </p:txBody>
      </p:sp>
      <p:sp>
        <p:nvSpPr>
          <p:cNvPr id="12" name="TextBox 11"/>
          <p:cNvSpPr txBox="1"/>
          <p:nvPr/>
        </p:nvSpPr>
        <p:spPr>
          <a:xfrm>
            <a:off x="978408" y="3520440"/>
            <a:ext cx="2944368" cy="1764792"/>
          </a:xfrm>
          <a:prstGeom prst="rect">
            <a:avLst/>
          </a:prstGeom>
          <a:noFill/>
        </p:spPr>
        <p:txBody>
          <a:bodyPr wrap="square">
            <a:spAutoFit/>
          </a:bodyPr>
          <a:lstStyle/>
          <a:p>
            <a:pPr algn="l">
              <a:defRPr sz="1700" b="0">
                <a:solidFill>
                  <a:srgbClr val="232A34"/>
                </a:solidFill>
              </a:defRPr>
            </a:pPr>
            <a:r>
              <a:t>The documents have a strong overlap in their weighted terms.</a:t>
            </a:r>
          </a:p>
        </p:txBody>
      </p:sp>
      <p:sp>
        <p:nvSpPr>
          <p:cNvPr id="13" name="Rounded Rectangle 12"/>
          <p:cNvSpPr/>
          <p:nvPr/>
        </p:nvSpPr>
        <p:spPr>
          <a:xfrm>
            <a:off x="4434840" y="2971800"/>
            <a:ext cx="3291840" cy="24231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34840" y="2971800"/>
            <a:ext cx="73152" cy="2423160"/>
          </a:xfrm>
          <a:prstGeom prst="rect">
            <a:avLst/>
          </a:prstGeom>
          <a:solidFill>
            <a:srgbClr val="CD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36007" y="3118104"/>
            <a:ext cx="2971800" cy="320040"/>
          </a:xfrm>
          <a:prstGeom prst="rect">
            <a:avLst/>
          </a:prstGeom>
          <a:noFill/>
        </p:spPr>
        <p:txBody>
          <a:bodyPr wrap="square">
            <a:spAutoFit/>
          </a:bodyPr>
          <a:lstStyle/>
          <a:p>
            <a:pPr algn="l">
              <a:defRPr sz="1700" b="1">
                <a:solidFill>
                  <a:srgbClr val="11233F"/>
                </a:solidFill>
              </a:defRPr>
            </a:pPr>
            <a:r>
              <a:t>Near 0.0</a:t>
            </a:r>
          </a:p>
        </p:txBody>
      </p:sp>
      <p:sp>
        <p:nvSpPr>
          <p:cNvPr id="16" name="TextBox 15"/>
          <p:cNvSpPr txBox="1"/>
          <p:nvPr/>
        </p:nvSpPr>
        <p:spPr>
          <a:xfrm>
            <a:off x="4636007" y="3520440"/>
            <a:ext cx="2944368" cy="1764792"/>
          </a:xfrm>
          <a:prstGeom prst="rect">
            <a:avLst/>
          </a:prstGeom>
          <a:noFill/>
        </p:spPr>
        <p:txBody>
          <a:bodyPr wrap="square">
            <a:spAutoFit/>
          </a:bodyPr>
          <a:lstStyle/>
          <a:p>
            <a:pPr algn="l">
              <a:defRPr sz="1700" b="0">
                <a:solidFill>
                  <a:srgbClr val="232A34"/>
                </a:solidFill>
              </a:defRPr>
            </a:pPr>
            <a:r>
              <a:t>The documents have little overlap in their TF-IDF representation.</a:t>
            </a:r>
          </a:p>
        </p:txBody>
      </p:sp>
      <p:sp>
        <p:nvSpPr>
          <p:cNvPr id="17" name="Rounded Rectangle 16"/>
          <p:cNvSpPr/>
          <p:nvPr/>
        </p:nvSpPr>
        <p:spPr>
          <a:xfrm>
            <a:off x="8092440" y="2971800"/>
            <a:ext cx="3291840" cy="24231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2971800"/>
            <a:ext cx="73152" cy="242316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93608" y="3118104"/>
            <a:ext cx="2971800" cy="320040"/>
          </a:xfrm>
          <a:prstGeom prst="rect">
            <a:avLst/>
          </a:prstGeom>
          <a:noFill/>
        </p:spPr>
        <p:txBody>
          <a:bodyPr wrap="square">
            <a:spAutoFit/>
          </a:bodyPr>
          <a:lstStyle/>
          <a:p>
            <a:pPr algn="l">
              <a:defRPr sz="1700" b="1">
                <a:solidFill>
                  <a:srgbClr val="11233F"/>
                </a:solidFill>
              </a:defRPr>
            </a:pPr>
            <a:r>
              <a:t>Why it helps</a:t>
            </a:r>
          </a:p>
        </p:txBody>
      </p:sp>
      <p:sp>
        <p:nvSpPr>
          <p:cNvPr id="20" name="TextBox 19"/>
          <p:cNvSpPr txBox="1"/>
          <p:nvPr/>
        </p:nvSpPr>
        <p:spPr>
          <a:xfrm>
            <a:off x="8293608" y="3520440"/>
            <a:ext cx="2944368" cy="1764792"/>
          </a:xfrm>
          <a:prstGeom prst="rect">
            <a:avLst/>
          </a:prstGeom>
          <a:noFill/>
        </p:spPr>
        <p:txBody>
          <a:bodyPr wrap="square">
            <a:spAutoFit/>
          </a:bodyPr>
          <a:lstStyle/>
          <a:p>
            <a:pPr algn="l">
              <a:defRPr sz="1700" b="0">
                <a:solidFill>
                  <a:srgbClr val="232A34"/>
                </a:solidFill>
              </a:defRPr>
            </a:pPr>
            <a:r>
              <a:t>It provides a scalable numerical signal for comparing multiple submissions.</a:t>
            </a:r>
          </a:p>
        </p:txBody>
      </p:sp>
      <p:sp>
        <p:nvSpPr>
          <p:cNvPr id="21" name="Rectangle 20"/>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9. Algorithm 3 — String / Sequence Matching</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Longest Common Subsequence (LCS)</a:t>
            </a:r>
          </a:p>
        </p:txBody>
      </p:sp>
      <p:sp>
        <p:nvSpPr>
          <p:cNvPr id="6" name="TextBox 5"/>
          <p:cNvSpPr txBox="1"/>
          <p:nvPr/>
        </p:nvSpPr>
        <p:spPr>
          <a:xfrm>
            <a:off x="731520" y="1005840"/>
            <a:ext cx="10789920" cy="640080"/>
          </a:xfrm>
          <a:prstGeom prst="rect">
            <a:avLst/>
          </a:prstGeom>
          <a:noFill/>
        </p:spPr>
        <p:txBody>
          <a:bodyPr wrap="square">
            <a:spAutoFit/>
          </a:bodyPr>
          <a:lstStyle/>
          <a:p>
            <a:pPr algn="ctr">
              <a:defRPr sz="1700" b="0">
                <a:solidFill>
                  <a:srgbClr val="232A34"/>
                </a:solidFill>
              </a:defRPr>
            </a:pPr>
            <a:r>
              <a:t>TF-IDF captures vocabulary overlap. Sequence matching adds order-sensitive evidence for repeated or partially repeated content.</a:t>
            </a:r>
          </a:p>
        </p:txBody>
      </p:sp>
      <p:sp>
        <p:nvSpPr>
          <p:cNvPr id="7" name="Rounded Rectangle 6"/>
          <p:cNvSpPr/>
          <p:nvPr/>
        </p:nvSpPr>
        <p:spPr>
          <a:xfrm>
            <a:off x="1051560" y="1874519"/>
            <a:ext cx="10058400" cy="1325880"/>
          </a:xfrm>
          <a:prstGeom prst="roundRect">
            <a:avLst/>
          </a:prstGeom>
          <a:solidFill>
            <a:srgbClr val="191F28"/>
          </a:solidFill>
          <a:ln>
            <a:solidFill>
              <a:srgbClr val="4650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16151" y="1984248"/>
            <a:ext cx="9738360" cy="1143000"/>
          </a:xfrm>
          <a:prstGeom prst="rect">
            <a:avLst/>
          </a:prstGeom>
          <a:noFill/>
        </p:spPr>
        <p:txBody>
          <a:bodyPr wrap="none">
            <a:spAutoFit/>
          </a:bodyPr>
          <a:lstStyle/>
          <a:p>
            <a:pPr>
              <a:defRPr sz="1500">
                <a:solidFill>
                  <a:srgbClr val="E1E8F0"/>
                </a:solidFill>
                <a:latin typeface="Consolas"/>
              </a:defRPr>
            </a:pPr>
            <a:r>
              <a:t>dp[i][j] = dp[i-1][j-1] + 1    if tokens match</a:t>
            </a:r>
            <a:br/>
            <a:r>
              <a:t>dp[i][j] = max(dp[i-1][j], dp[i][j-1])   otherwise</a:t>
            </a:r>
          </a:p>
        </p:txBody>
      </p:sp>
      <p:sp>
        <p:nvSpPr>
          <p:cNvPr id="9" name="Rounded Rectangle 8"/>
          <p:cNvSpPr/>
          <p:nvPr/>
        </p:nvSpPr>
        <p:spPr>
          <a:xfrm>
            <a:off x="914400" y="3703320"/>
            <a:ext cx="4800600" cy="169164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3703320"/>
            <a:ext cx="73152" cy="1691640"/>
          </a:xfrm>
          <a:prstGeom prst="rect">
            <a:avLst/>
          </a:prstGeom>
          <a:solidFill>
            <a:srgbClr val="745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3849624"/>
            <a:ext cx="4480560" cy="320040"/>
          </a:xfrm>
          <a:prstGeom prst="rect">
            <a:avLst/>
          </a:prstGeom>
          <a:noFill/>
        </p:spPr>
        <p:txBody>
          <a:bodyPr wrap="square">
            <a:spAutoFit/>
          </a:bodyPr>
          <a:lstStyle/>
          <a:p>
            <a:pPr algn="l">
              <a:defRPr sz="1700" b="1">
                <a:solidFill>
                  <a:srgbClr val="11233F"/>
                </a:solidFill>
              </a:defRPr>
            </a:pPr>
            <a:r>
              <a:t>What it detects</a:t>
            </a:r>
          </a:p>
        </p:txBody>
      </p:sp>
      <p:sp>
        <p:nvSpPr>
          <p:cNvPr id="12" name="TextBox 11"/>
          <p:cNvSpPr txBox="1"/>
          <p:nvPr/>
        </p:nvSpPr>
        <p:spPr>
          <a:xfrm>
            <a:off x="1115568" y="4251959"/>
            <a:ext cx="4453128" cy="1033272"/>
          </a:xfrm>
          <a:prstGeom prst="rect">
            <a:avLst/>
          </a:prstGeom>
          <a:noFill/>
        </p:spPr>
        <p:txBody>
          <a:bodyPr wrap="square">
            <a:spAutoFit/>
          </a:bodyPr>
          <a:lstStyle/>
          <a:p>
            <a:pPr algn="l">
              <a:defRPr sz="1600" b="0">
                <a:solidFill>
                  <a:srgbClr val="232A34"/>
                </a:solidFill>
              </a:defRPr>
            </a:pPr>
            <a:r>
              <a:t>Shared token sequences even when the complete documents are not identical.</a:t>
            </a:r>
          </a:p>
        </p:txBody>
      </p:sp>
      <p:sp>
        <p:nvSpPr>
          <p:cNvPr id="13" name="Rounded Rectangle 12"/>
          <p:cNvSpPr/>
          <p:nvPr/>
        </p:nvSpPr>
        <p:spPr>
          <a:xfrm>
            <a:off x="6080760" y="3703320"/>
            <a:ext cx="4800600" cy="169164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0760" y="3703320"/>
            <a:ext cx="73152" cy="169164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81928" y="3849624"/>
            <a:ext cx="4480560" cy="320040"/>
          </a:xfrm>
          <a:prstGeom prst="rect">
            <a:avLst/>
          </a:prstGeom>
          <a:noFill/>
        </p:spPr>
        <p:txBody>
          <a:bodyPr wrap="square">
            <a:spAutoFit/>
          </a:bodyPr>
          <a:lstStyle/>
          <a:p>
            <a:pPr algn="l">
              <a:defRPr sz="1700" b="1">
                <a:solidFill>
                  <a:srgbClr val="11233F"/>
                </a:solidFill>
              </a:defRPr>
            </a:pPr>
            <a:r>
              <a:t>DSA concept</a:t>
            </a:r>
          </a:p>
        </p:txBody>
      </p:sp>
      <p:sp>
        <p:nvSpPr>
          <p:cNvPr id="16" name="TextBox 15"/>
          <p:cNvSpPr txBox="1"/>
          <p:nvPr/>
        </p:nvSpPr>
        <p:spPr>
          <a:xfrm>
            <a:off x="6281928" y="4251959"/>
            <a:ext cx="4453128" cy="1033272"/>
          </a:xfrm>
          <a:prstGeom prst="rect">
            <a:avLst/>
          </a:prstGeom>
          <a:noFill/>
        </p:spPr>
        <p:txBody>
          <a:bodyPr wrap="square">
            <a:spAutoFit/>
          </a:bodyPr>
          <a:lstStyle/>
          <a:p>
            <a:pPr algn="l">
              <a:defRPr sz="1600" b="0">
                <a:solidFill>
                  <a:srgbClr val="232A34"/>
                </a:solidFill>
              </a:defRPr>
            </a:pPr>
            <a:r>
              <a:t>Dynamic programming is used to compute the LCS efficiently over token sequences.</a:t>
            </a:r>
          </a:p>
        </p:txBody>
      </p:sp>
      <p:sp>
        <p:nvSpPr>
          <p:cNvPr id="17" name="Rectangle 16"/>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10. Algorithm 4 — N-Gram Similarity</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Detecting shared local text patterns</a:t>
            </a:r>
          </a:p>
        </p:txBody>
      </p:sp>
      <p:sp>
        <p:nvSpPr>
          <p:cNvPr id="6" name="TextBox 5"/>
          <p:cNvSpPr txBox="1"/>
          <p:nvPr/>
        </p:nvSpPr>
        <p:spPr>
          <a:xfrm>
            <a:off x="777240" y="1051560"/>
            <a:ext cx="10698480" cy="594360"/>
          </a:xfrm>
          <a:prstGeom prst="rect">
            <a:avLst/>
          </a:prstGeom>
          <a:noFill/>
        </p:spPr>
        <p:txBody>
          <a:bodyPr wrap="square">
            <a:spAutoFit/>
          </a:bodyPr>
          <a:lstStyle/>
          <a:p>
            <a:pPr algn="ctr">
              <a:defRPr sz="1700" b="0">
                <a:solidFill>
                  <a:srgbClr val="232A34"/>
                </a:solidFill>
              </a:defRPr>
            </a:pPr>
            <a:r>
              <a:t>The implementation creates character 3-grams from cleaned text and compares the sets using Jaccard similarity.</a:t>
            </a:r>
          </a:p>
        </p:txBody>
      </p:sp>
      <p:sp>
        <p:nvSpPr>
          <p:cNvPr id="7" name="Rounded Rectangle 6"/>
          <p:cNvSpPr/>
          <p:nvPr/>
        </p:nvSpPr>
        <p:spPr>
          <a:xfrm>
            <a:off x="822960" y="1920240"/>
            <a:ext cx="3246120" cy="274320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920240"/>
            <a:ext cx="73152" cy="2743200"/>
          </a:xfrm>
          <a:prstGeom prst="rect">
            <a:avLst/>
          </a:prstGeom>
          <a:solidFill>
            <a:srgbClr val="41A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2066544"/>
            <a:ext cx="2926079" cy="320040"/>
          </a:xfrm>
          <a:prstGeom prst="rect">
            <a:avLst/>
          </a:prstGeom>
          <a:noFill/>
        </p:spPr>
        <p:txBody>
          <a:bodyPr wrap="square">
            <a:spAutoFit/>
          </a:bodyPr>
          <a:lstStyle/>
          <a:p>
            <a:pPr algn="l">
              <a:defRPr sz="1700" b="1">
                <a:solidFill>
                  <a:srgbClr val="11233F"/>
                </a:solidFill>
              </a:defRPr>
            </a:pPr>
            <a:r>
              <a:t>Example</a:t>
            </a:r>
          </a:p>
        </p:txBody>
      </p:sp>
      <p:sp>
        <p:nvSpPr>
          <p:cNvPr id="10" name="TextBox 9"/>
          <p:cNvSpPr txBox="1"/>
          <p:nvPr/>
        </p:nvSpPr>
        <p:spPr>
          <a:xfrm>
            <a:off x="1024128" y="2468880"/>
            <a:ext cx="2898648" cy="2084832"/>
          </a:xfrm>
          <a:prstGeom prst="rect">
            <a:avLst/>
          </a:prstGeom>
          <a:noFill/>
        </p:spPr>
        <p:txBody>
          <a:bodyPr wrap="square">
            <a:spAutoFit/>
          </a:bodyPr>
          <a:lstStyle/>
          <a:p>
            <a:pPr algn="l">
              <a:defRPr sz="1700" b="0">
                <a:solidFill>
                  <a:srgbClr val="232A34"/>
                </a:solidFill>
              </a:defRPr>
            </a:pPr>
            <a:r>
              <a:t>"similarity"</a:t>
            </a:r>
            <a:br/>
            <a:br/>
            <a:r>
              <a:t>3-grams include:</a:t>
            </a:r>
            <a:br/>
            <a:r>
              <a:t>"sim", "imi", "mil", "ila", ...</a:t>
            </a:r>
          </a:p>
        </p:txBody>
      </p:sp>
      <p:sp>
        <p:nvSpPr>
          <p:cNvPr id="11" name="Rounded Rectangle 10"/>
          <p:cNvSpPr/>
          <p:nvPr/>
        </p:nvSpPr>
        <p:spPr>
          <a:xfrm>
            <a:off x="4434840" y="1920240"/>
            <a:ext cx="3246120" cy="274320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920240"/>
            <a:ext cx="73152" cy="2743200"/>
          </a:xfrm>
          <a:prstGeom prst="rect">
            <a:avLst/>
          </a:prstGeom>
          <a:solidFill>
            <a:srgbClr val="2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066544"/>
            <a:ext cx="2926079" cy="320040"/>
          </a:xfrm>
          <a:prstGeom prst="rect">
            <a:avLst/>
          </a:prstGeom>
          <a:noFill/>
        </p:spPr>
        <p:txBody>
          <a:bodyPr wrap="square">
            <a:spAutoFit/>
          </a:bodyPr>
          <a:lstStyle/>
          <a:p>
            <a:pPr algn="l">
              <a:defRPr sz="1700" b="1">
                <a:solidFill>
                  <a:srgbClr val="11233F"/>
                </a:solidFill>
              </a:defRPr>
            </a:pPr>
            <a:r>
              <a:t>Intersection</a:t>
            </a:r>
          </a:p>
        </p:txBody>
      </p:sp>
      <p:sp>
        <p:nvSpPr>
          <p:cNvPr id="14" name="TextBox 13"/>
          <p:cNvSpPr txBox="1"/>
          <p:nvPr/>
        </p:nvSpPr>
        <p:spPr>
          <a:xfrm>
            <a:off x="4636007" y="2468880"/>
            <a:ext cx="2898648" cy="2084832"/>
          </a:xfrm>
          <a:prstGeom prst="rect">
            <a:avLst/>
          </a:prstGeom>
          <a:noFill/>
        </p:spPr>
        <p:txBody>
          <a:bodyPr wrap="square">
            <a:spAutoFit/>
          </a:bodyPr>
          <a:lstStyle/>
          <a:p>
            <a:pPr algn="l">
              <a:defRPr sz="1700" b="0">
                <a:solidFill>
                  <a:srgbClr val="232A34"/>
                </a:solidFill>
              </a:defRPr>
            </a:pPr>
            <a:r>
              <a:t>Count the local patterns shared by both submissions.</a:t>
            </a:r>
          </a:p>
        </p:txBody>
      </p:sp>
      <p:sp>
        <p:nvSpPr>
          <p:cNvPr id="15" name="Rounded Rectangle 14"/>
          <p:cNvSpPr/>
          <p:nvPr/>
        </p:nvSpPr>
        <p:spPr>
          <a:xfrm>
            <a:off x="8046720" y="1920240"/>
            <a:ext cx="3246120" cy="274320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920240"/>
            <a:ext cx="73152" cy="274320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2066544"/>
            <a:ext cx="2926079" cy="320040"/>
          </a:xfrm>
          <a:prstGeom prst="rect">
            <a:avLst/>
          </a:prstGeom>
          <a:noFill/>
        </p:spPr>
        <p:txBody>
          <a:bodyPr wrap="square">
            <a:spAutoFit/>
          </a:bodyPr>
          <a:lstStyle/>
          <a:p>
            <a:pPr algn="l">
              <a:defRPr sz="1700" b="1">
                <a:solidFill>
                  <a:srgbClr val="11233F"/>
                </a:solidFill>
              </a:defRPr>
            </a:pPr>
            <a:r>
              <a:t>Jaccard Similarity</a:t>
            </a:r>
          </a:p>
        </p:txBody>
      </p:sp>
      <p:sp>
        <p:nvSpPr>
          <p:cNvPr id="18" name="TextBox 17"/>
          <p:cNvSpPr txBox="1"/>
          <p:nvPr/>
        </p:nvSpPr>
        <p:spPr>
          <a:xfrm>
            <a:off x="8247888" y="2468880"/>
            <a:ext cx="2898648" cy="2084832"/>
          </a:xfrm>
          <a:prstGeom prst="rect">
            <a:avLst/>
          </a:prstGeom>
          <a:noFill/>
        </p:spPr>
        <p:txBody>
          <a:bodyPr wrap="square">
            <a:spAutoFit/>
          </a:bodyPr>
          <a:lstStyle/>
          <a:p>
            <a:pPr algn="l">
              <a:defRPr sz="1700" b="0">
                <a:solidFill>
                  <a:srgbClr val="232A34"/>
                </a:solidFill>
              </a:defRPr>
            </a:pPr>
            <a:r>
              <a:t>intersection size / union size</a:t>
            </a:r>
            <a:br/>
            <a:br/>
            <a:r>
              <a:t>A higher value means more shared local patterns.</a:t>
            </a:r>
          </a:p>
        </p:txBody>
      </p:sp>
      <p:sp>
        <p:nvSpPr>
          <p:cNvPr id="19" name="Rounded Rectangle 18"/>
          <p:cNvSpPr/>
          <p:nvPr/>
        </p:nvSpPr>
        <p:spPr>
          <a:xfrm>
            <a:off x="2103120" y="5074920"/>
            <a:ext cx="8046720" cy="640080"/>
          </a:xfrm>
          <a:prstGeom prst="roundRect">
            <a:avLst/>
          </a:prstGeom>
          <a:solidFill>
            <a:srgbClr val="191F28"/>
          </a:solidFill>
          <a:ln>
            <a:solidFill>
              <a:srgbClr val="4650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67712" y="5184648"/>
            <a:ext cx="7726680" cy="457199"/>
          </a:xfrm>
          <a:prstGeom prst="rect">
            <a:avLst/>
          </a:prstGeom>
          <a:noFill/>
        </p:spPr>
        <p:txBody>
          <a:bodyPr wrap="none">
            <a:spAutoFit/>
          </a:bodyPr>
          <a:lstStyle/>
          <a:p>
            <a:pPr>
              <a:defRPr sz="1700">
                <a:solidFill>
                  <a:srgbClr val="E1E8F0"/>
                </a:solidFill>
                <a:latin typeface="Consolas"/>
              </a:defRPr>
            </a:pPr>
            <a:r>
              <a:t>N-Gram Similarity = |G1 ∩ G2| / |G1 ∪ G2|</a:t>
            </a:r>
          </a:p>
        </p:txBody>
      </p:sp>
      <p:sp>
        <p:nvSpPr>
          <p:cNvPr id="21" name="Rectangle 20"/>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11. Combined Similarity Score</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Using multiple signals instead of one metric</a:t>
            </a:r>
          </a:p>
        </p:txBody>
      </p:sp>
      <p:sp>
        <p:nvSpPr>
          <p:cNvPr id="6" name="TextBox 5"/>
          <p:cNvSpPr txBox="1"/>
          <p:nvPr/>
        </p:nvSpPr>
        <p:spPr>
          <a:xfrm>
            <a:off x="731520" y="1051560"/>
            <a:ext cx="10698480" cy="502920"/>
          </a:xfrm>
          <a:prstGeom prst="rect">
            <a:avLst/>
          </a:prstGeom>
          <a:noFill/>
        </p:spPr>
        <p:txBody>
          <a:bodyPr wrap="square">
            <a:spAutoFit/>
          </a:bodyPr>
          <a:lstStyle/>
          <a:p>
            <a:pPr algn="ctr">
              <a:defRPr sz="1800" b="0">
                <a:solidFill>
                  <a:srgbClr val="232A34"/>
                </a:solidFill>
              </a:defRPr>
            </a:pPr>
            <a:r>
              <a:t>The prototype combines three complementary similarity measures into one final score.</a:t>
            </a:r>
          </a:p>
        </p:txBody>
      </p:sp>
      <p:sp>
        <p:nvSpPr>
          <p:cNvPr id="7" name="TextBox 6"/>
          <p:cNvSpPr txBox="1"/>
          <p:nvPr/>
        </p:nvSpPr>
        <p:spPr>
          <a:xfrm>
            <a:off x="914400" y="1828800"/>
            <a:ext cx="2286000" cy="365760"/>
          </a:xfrm>
          <a:prstGeom prst="rect">
            <a:avLst/>
          </a:prstGeom>
          <a:noFill/>
        </p:spPr>
        <p:txBody>
          <a:bodyPr wrap="square">
            <a:spAutoFit/>
          </a:bodyPr>
          <a:lstStyle/>
          <a:p>
            <a:pPr algn="l">
              <a:defRPr sz="1600" b="1">
                <a:solidFill>
                  <a:srgbClr val="11233F"/>
                </a:solidFill>
              </a:defRPr>
            </a:pPr>
            <a:r>
              <a:t>TF-IDF / Cosine</a:t>
            </a:r>
          </a:p>
        </p:txBody>
      </p:sp>
      <p:sp>
        <p:nvSpPr>
          <p:cNvPr id="8" name="Rounded Rectangle 7"/>
          <p:cNvSpPr/>
          <p:nvPr/>
        </p:nvSpPr>
        <p:spPr>
          <a:xfrm>
            <a:off x="3154680" y="1856231"/>
            <a:ext cx="6217920" cy="320040"/>
          </a:xfrm>
          <a:prstGeom prst="round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154680" y="1856231"/>
            <a:ext cx="6217920" cy="320040"/>
          </a:xfrm>
          <a:prstGeom prst="round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55480" y="1810512"/>
            <a:ext cx="731520" cy="365760"/>
          </a:xfrm>
          <a:prstGeom prst="rect">
            <a:avLst/>
          </a:prstGeom>
          <a:noFill/>
        </p:spPr>
        <p:txBody>
          <a:bodyPr wrap="square">
            <a:spAutoFit/>
          </a:bodyPr>
          <a:lstStyle/>
          <a:p>
            <a:pPr algn="r">
              <a:defRPr sz="1500" b="1">
                <a:solidFill>
                  <a:srgbClr val="232A34"/>
                </a:solidFill>
              </a:defRPr>
            </a:pPr>
            <a:r>
              <a:t>50%</a:t>
            </a:r>
          </a:p>
        </p:txBody>
      </p:sp>
      <p:sp>
        <p:nvSpPr>
          <p:cNvPr id="11" name="TextBox 10"/>
          <p:cNvSpPr txBox="1"/>
          <p:nvPr/>
        </p:nvSpPr>
        <p:spPr>
          <a:xfrm>
            <a:off x="914400" y="2788920"/>
            <a:ext cx="2286000" cy="365760"/>
          </a:xfrm>
          <a:prstGeom prst="rect">
            <a:avLst/>
          </a:prstGeom>
          <a:noFill/>
        </p:spPr>
        <p:txBody>
          <a:bodyPr wrap="square">
            <a:spAutoFit/>
          </a:bodyPr>
          <a:lstStyle/>
          <a:p>
            <a:pPr algn="l">
              <a:defRPr sz="1600" b="1">
                <a:solidFill>
                  <a:srgbClr val="11233F"/>
                </a:solidFill>
              </a:defRPr>
            </a:pPr>
            <a:r>
              <a:t>String / LCS</a:t>
            </a:r>
          </a:p>
        </p:txBody>
      </p:sp>
      <p:sp>
        <p:nvSpPr>
          <p:cNvPr id="12" name="Rounded Rectangle 11"/>
          <p:cNvSpPr/>
          <p:nvPr/>
        </p:nvSpPr>
        <p:spPr>
          <a:xfrm>
            <a:off x="3154680" y="2816351"/>
            <a:ext cx="6217920" cy="320040"/>
          </a:xfrm>
          <a:prstGeom prst="round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154680" y="2816351"/>
            <a:ext cx="3730752" cy="320040"/>
          </a:xfrm>
          <a:prstGeom prst="roundRect">
            <a:avLst/>
          </a:prstGeom>
          <a:solidFill>
            <a:srgbClr val="745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55480" y="2770632"/>
            <a:ext cx="731520" cy="365760"/>
          </a:xfrm>
          <a:prstGeom prst="rect">
            <a:avLst/>
          </a:prstGeom>
          <a:noFill/>
        </p:spPr>
        <p:txBody>
          <a:bodyPr wrap="square">
            <a:spAutoFit/>
          </a:bodyPr>
          <a:lstStyle/>
          <a:p>
            <a:pPr algn="r">
              <a:defRPr sz="1500" b="1">
                <a:solidFill>
                  <a:srgbClr val="232A34"/>
                </a:solidFill>
              </a:defRPr>
            </a:pPr>
            <a:r>
              <a:t>30%</a:t>
            </a:r>
          </a:p>
        </p:txBody>
      </p:sp>
      <p:sp>
        <p:nvSpPr>
          <p:cNvPr id="15" name="TextBox 14"/>
          <p:cNvSpPr txBox="1"/>
          <p:nvPr/>
        </p:nvSpPr>
        <p:spPr>
          <a:xfrm>
            <a:off x="914400" y="3749039"/>
            <a:ext cx="2286000" cy="365760"/>
          </a:xfrm>
          <a:prstGeom prst="rect">
            <a:avLst/>
          </a:prstGeom>
          <a:noFill/>
        </p:spPr>
        <p:txBody>
          <a:bodyPr wrap="square">
            <a:spAutoFit/>
          </a:bodyPr>
          <a:lstStyle/>
          <a:p>
            <a:pPr algn="l">
              <a:defRPr sz="1600" b="1">
                <a:solidFill>
                  <a:srgbClr val="11233F"/>
                </a:solidFill>
              </a:defRPr>
            </a:pPr>
            <a:r>
              <a:t>N-Gram</a:t>
            </a:r>
          </a:p>
        </p:txBody>
      </p:sp>
      <p:sp>
        <p:nvSpPr>
          <p:cNvPr id="16" name="Rounded Rectangle 15"/>
          <p:cNvSpPr/>
          <p:nvPr/>
        </p:nvSpPr>
        <p:spPr>
          <a:xfrm>
            <a:off x="3154680" y="3776472"/>
            <a:ext cx="6217920" cy="320040"/>
          </a:xfrm>
          <a:prstGeom prst="round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154680" y="3776472"/>
            <a:ext cx="2487168" cy="320040"/>
          </a:xfrm>
          <a:prstGeom prst="roundRect">
            <a:avLst/>
          </a:prstGeom>
          <a:solidFill>
            <a:srgbClr val="2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55480" y="3730752"/>
            <a:ext cx="731520" cy="365760"/>
          </a:xfrm>
          <a:prstGeom prst="rect">
            <a:avLst/>
          </a:prstGeom>
          <a:noFill/>
        </p:spPr>
        <p:txBody>
          <a:bodyPr wrap="square">
            <a:spAutoFit/>
          </a:bodyPr>
          <a:lstStyle/>
          <a:p>
            <a:pPr algn="r">
              <a:defRPr sz="1500" b="1">
                <a:solidFill>
                  <a:srgbClr val="232A34"/>
                </a:solidFill>
              </a:defRPr>
            </a:pPr>
            <a:r>
              <a:t>20%</a:t>
            </a:r>
          </a:p>
        </p:txBody>
      </p:sp>
      <p:sp>
        <p:nvSpPr>
          <p:cNvPr id="19" name="Rounded Rectangle 18"/>
          <p:cNvSpPr/>
          <p:nvPr/>
        </p:nvSpPr>
        <p:spPr>
          <a:xfrm>
            <a:off x="1828800" y="4983480"/>
            <a:ext cx="8503920" cy="731520"/>
          </a:xfrm>
          <a:prstGeom prst="roundRect">
            <a:avLst/>
          </a:prstGeom>
          <a:solidFill>
            <a:srgbClr val="191F28"/>
          </a:solidFill>
          <a:ln>
            <a:solidFill>
              <a:srgbClr val="4650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93392" y="5093208"/>
            <a:ext cx="8183880" cy="548640"/>
          </a:xfrm>
          <a:prstGeom prst="rect">
            <a:avLst/>
          </a:prstGeom>
          <a:noFill/>
        </p:spPr>
        <p:txBody>
          <a:bodyPr wrap="none">
            <a:spAutoFit/>
          </a:bodyPr>
          <a:lstStyle/>
          <a:p>
            <a:pPr>
              <a:defRPr sz="1600">
                <a:solidFill>
                  <a:srgbClr val="E1E8F0"/>
                </a:solidFill>
                <a:latin typeface="Consolas"/>
              </a:defRPr>
            </a:pPr>
            <a:r>
              <a:t>Final = 0.50(Cosine) + 0.30(String) + 0.20(N-Gram)</a:t>
            </a:r>
          </a:p>
        </p:txBody>
      </p:sp>
      <p:sp>
        <p:nvSpPr>
          <p:cNvPr id="21" name="TextBox 20"/>
          <p:cNvSpPr txBox="1"/>
          <p:nvPr/>
        </p:nvSpPr>
        <p:spPr>
          <a:xfrm>
            <a:off x="1051560" y="5897880"/>
            <a:ext cx="10058400" cy="411480"/>
          </a:xfrm>
          <a:prstGeom prst="rect">
            <a:avLst/>
          </a:prstGeom>
          <a:noFill/>
        </p:spPr>
        <p:txBody>
          <a:bodyPr wrap="square">
            <a:spAutoFit/>
          </a:bodyPr>
          <a:lstStyle/>
          <a:p>
            <a:pPr algn="ctr">
              <a:defRPr sz="1400" b="1">
                <a:solidFill>
                  <a:srgbClr val="11233F"/>
                </a:solidFill>
              </a:defRPr>
            </a:pPr>
            <a:r>
              <a:t>Classification used in the prototype: ≥70% HIGH • 40–69.99% MEDIUM • &lt;40% LOW</a:t>
            </a:r>
          </a:p>
        </p:txBody>
      </p:sp>
      <p:sp>
        <p:nvSpPr>
          <p:cNvPr id="22" name="Rectangle 21"/>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6572761" cy="477054"/>
          </a:xfrm>
          <a:prstGeom prst="rect">
            <a:avLst/>
          </a:prstGeom>
          <a:noFill/>
        </p:spPr>
        <p:txBody>
          <a:bodyPr wrap="none">
            <a:spAutoFit/>
          </a:bodyPr>
          <a:lstStyle/>
          <a:p>
            <a:pPr>
              <a:defRPr sz="2500" b="1">
                <a:solidFill>
                  <a:srgbClr val="FFFFFF"/>
                </a:solidFill>
              </a:defRPr>
            </a:pPr>
            <a:r>
              <a:t>1</a:t>
            </a:r>
            <a:r>
              <a:rPr lang="en-IN"/>
              <a:t>2</a:t>
            </a:r>
            <a:r>
              <a:t>. Complete Flowchart — How the Code Works</a:t>
            </a:r>
          </a:p>
        </p:txBody>
      </p:sp>
      <p:sp>
        <p:nvSpPr>
          <p:cNvPr id="5" name="Rounded Rectangle 4"/>
          <p:cNvSpPr/>
          <p:nvPr/>
        </p:nvSpPr>
        <p:spPr>
          <a:xfrm>
            <a:off x="3977639" y="868680"/>
            <a:ext cx="4251960" cy="429768"/>
          </a:xfrm>
          <a:prstGeom prst="roundRect">
            <a:avLst/>
          </a:prstGeom>
          <a:solidFill>
            <a:srgbClr val="11233F"/>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Start</a:t>
            </a:r>
          </a:p>
        </p:txBody>
      </p:sp>
      <p:cxnSp>
        <p:nvCxnSpPr>
          <p:cNvPr id="6" name="Connector 5"/>
          <p:cNvCxnSpPr/>
          <p:nvPr/>
        </p:nvCxnSpPr>
        <p:spPr>
          <a:xfrm>
            <a:off x="6103620" y="1307592"/>
            <a:ext cx="0" cy="9144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977639" y="1417320"/>
            <a:ext cx="4251960" cy="429768"/>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1233F"/>
                </a:solidFill>
              </a:defRPr>
            </a:pPr>
            <a:r>
              <a:t>Enter Student File 1 &amp; File 2</a:t>
            </a:r>
          </a:p>
        </p:txBody>
      </p:sp>
      <p:cxnSp>
        <p:nvCxnSpPr>
          <p:cNvPr id="8" name="Connector 7"/>
          <p:cNvCxnSpPr/>
          <p:nvPr/>
        </p:nvCxnSpPr>
        <p:spPr>
          <a:xfrm>
            <a:off x="6103620" y="1856232"/>
            <a:ext cx="0" cy="9144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977639" y="1965960"/>
            <a:ext cx="4251960" cy="429768"/>
          </a:xfrm>
          <a:prstGeom prst="roundRect">
            <a:avLst/>
          </a:prstGeom>
          <a:solidFill>
            <a:srgbClr val="E5EFF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1233F"/>
                </a:solidFill>
              </a:defRPr>
            </a:pPr>
            <a:r>
              <a:t>DocumentReader.readFile()</a:t>
            </a:r>
          </a:p>
        </p:txBody>
      </p:sp>
      <p:cxnSp>
        <p:nvCxnSpPr>
          <p:cNvPr id="10" name="Connector 9"/>
          <p:cNvCxnSpPr/>
          <p:nvPr/>
        </p:nvCxnSpPr>
        <p:spPr>
          <a:xfrm>
            <a:off x="6103620" y="2404872"/>
            <a:ext cx="0" cy="9144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977639" y="2514600"/>
            <a:ext cx="4251960" cy="429768"/>
          </a:xfrm>
          <a:prstGeom prst="roundRect">
            <a:avLst/>
          </a:prstGeom>
          <a:solidFill>
            <a:srgbClr val="E8F4F7"/>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1233F"/>
                </a:solidFill>
              </a:defRPr>
            </a:pPr>
            <a:r>
              <a:t>TextProcessor.tokenize()</a:t>
            </a:r>
          </a:p>
        </p:txBody>
      </p:sp>
      <p:cxnSp>
        <p:nvCxnSpPr>
          <p:cNvPr id="12" name="Connector 11"/>
          <p:cNvCxnSpPr/>
          <p:nvPr/>
        </p:nvCxnSpPr>
        <p:spPr>
          <a:xfrm>
            <a:off x="6103620" y="2953512"/>
            <a:ext cx="0" cy="9144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77639" y="3063240"/>
            <a:ext cx="4251960" cy="429768"/>
          </a:xfrm>
          <a:prstGeom prst="roundRect">
            <a:avLst/>
          </a:prstGeom>
          <a:solidFill>
            <a:srgbClr val="EBE7F9"/>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TF-IDF → Cosine Similarity</a:t>
            </a:r>
          </a:p>
        </p:txBody>
      </p:sp>
      <p:cxnSp>
        <p:nvCxnSpPr>
          <p:cNvPr id="14" name="Connector 13"/>
          <p:cNvCxnSpPr/>
          <p:nvPr/>
        </p:nvCxnSpPr>
        <p:spPr>
          <a:xfrm>
            <a:off x="6103620" y="3502152"/>
            <a:ext cx="0" cy="9144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77639" y="3611880"/>
            <a:ext cx="4251960" cy="429768"/>
          </a:xfrm>
          <a:prstGeom prst="roundRect">
            <a:avLst/>
          </a:prstGeom>
          <a:solidFill>
            <a:srgbClr val="EBE7F9"/>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String Similarity → LCS</a:t>
            </a:r>
          </a:p>
        </p:txBody>
      </p:sp>
      <p:cxnSp>
        <p:nvCxnSpPr>
          <p:cNvPr id="16" name="Connector 15"/>
          <p:cNvCxnSpPr/>
          <p:nvPr/>
        </p:nvCxnSpPr>
        <p:spPr>
          <a:xfrm>
            <a:off x="6103620" y="4050791"/>
            <a:ext cx="0" cy="91441"/>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977639" y="4160520"/>
            <a:ext cx="4251960" cy="429768"/>
          </a:xfrm>
          <a:prstGeom prst="roundRect">
            <a:avLst/>
          </a:prstGeom>
          <a:solidFill>
            <a:srgbClr val="E8F7ED"/>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N-Gram Similarity → Jaccard</a:t>
            </a:r>
          </a:p>
        </p:txBody>
      </p:sp>
      <p:cxnSp>
        <p:nvCxnSpPr>
          <p:cNvPr id="18" name="Connector 17"/>
          <p:cNvCxnSpPr/>
          <p:nvPr/>
        </p:nvCxnSpPr>
        <p:spPr>
          <a:xfrm>
            <a:off x="6103620" y="4599431"/>
            <a:ext cx="0" cy="91441"/>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977639" y="4709160"/>
            <a:ext cx="4251960" cy="429768"/>
          </a:xfrm>
          <a:prstGeom prst="roundRect">
            <a:avLst/>
          </a:prstGeom>
          <a:solidFill>
            <a:srgbClr val="FAF1DC"/>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Weighted Final Score</a:t>
            </a:r>
          </a:p>
        </p:txBody>
      </p:sp>
      <p:cxnSp>
        <p:nvCxnSpPr>
          <p:cNvPr id="20" name="Connector 19"/>
          <p:cNvCxnSpPr/>
          <p:nvPr/>
        </p:nvCxnSpPr>
        <p:spPr>
          <a:xfrm>
            <a:off x="6103620" y="5148072"/>
            <a:ext cx="0" cy="9144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977639" y="5257800"/>
            <a:ext cx="4251960" cy="429768"/>
          </a:xfrm>
          <a:prstGeom prst="roundRect">
            <a:avLst/>
          </a:prstGeom>
          <a:solidFill>
            <a:srgbClr val="F8E2E2"/>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1233F"/>
                </a:solidFill>
              </a:defRPr>
            </a:pPr>
            <a:r>
              <a:t>HIGH / MEDIUM / LOW</a:t>
            </a:r>
          </a:p>
        </p:txBody>
      </p:sp>
      <p:cxnSp>
        <p:nvCxnSpPr>
          <p:cNvPr id="22" name="Connector 21"/>
          <p:cNvCxnSpPr/>
          <p:nvPr/>
        </p:nvCxnSpPr>
        <p:spPr>
          <a:xfrm>
            <a:off x="6103620" y="5696712"/>
            <a:ext cx="0" cy="91440"/>
          </a:xfrm>
          <a:prstGeom prst="line">
            <a:avLst/>
          </a:prstGeom>
          <a:ln w="25400">
            <a:solidFill>
              <a:srgbClr val="2A5CA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977639" y="5806440"/>
            <a:ext cx="4251960" cy="429768"/>
          </a:xfrm>
          <a:prstGeom prst="roundRect">
            <a:avLst/>
          </a:prstGeom>
          <a:solidFill>
            <a:srgbClr val="11233F"/>
          </a:solidFill>
          <a:ln>
            <a:solidFill>
              <a:srgbClr val="2A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Display Result</a:t>
            </a:r>
          </a:p>
        </p:txBody>
      </p:sp>
      <p:sp>
        <p:nvSpPr>
          <p:cNvPr id="24" name="Rectangle 23"/>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3555076" cy="477054"/>
          </a:xfrm>
          <a:prstGeom prst="rect">
            <a:avLst/>
          </a:prstGeom>
          <a:noFill/>
        </p:spPr>
        <p:txBody>
          <a:bodyPr wrap="none">
            <a:spAutoFit/>
          </a:bodyPr>
          <a:lstStyle/>
          <a:p>
            <a:pPr>
              <a:defRPr sz="2500" b="1">
                <a:solidFill>
                  <a:srgbClr val="FFFFFF"/>
                </a:solidFill>
              </a:defRPr>
            </a:pPr>
            <a:r>
              <a:t>1</a:t>
            </a:r>
            <a:r>
              <a:rPr lang="en-IN"/>
              <a:t>3</a:t>
            </a:r>
            <a:r>
              <a:t>. Java Project Structure</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Only four Java classes are required for the current implementation</a:t>
            </a:r>
          </a:p>
        </p:txBody>
      </p:sp>
      <p:sp>
        <p:nvSpPr>
          <p:cNvPr id="6" name="Rounded Rectangle 5"/>
          <p:cNvSpPr/>
          <p:nvPr/>
        </p:nvSpPr>
        <p:spPr>
          <a:xfrm>
            <a:off x="594360" y="1234440"/>
            <a:ext cx="5257800" cy="19659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73152" cy="196596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380744"/>
            <a:ext cx="4937760" cy="320040"/>
          </a:xfrm>
          <a:prstGeom prst="rect">
            <a:avLst/>
          </a:prstGeom>
          <a:noFill/>
        </p:spPr>
        <p:txBody>
          <a:bodyPr wrap="square">
            <a:spAutoFit/>
          </a:bodyPr>
          <a:lstStyle/>
          <a:p>
            <a:pPr algn="l">
              <a:defRPr sz="1800" b="1">
                <a:solidFill>
                  <a:srgbClr val="11233F"/>
                </a:solidFill>
              </a:defRPr>
            </a:pPr>
            <a:r>
              <a:t>Main.java</a:t>
            </a:r>
          </a:p>
        </p:txBody>
      </p:sp>
      <p:sp>
        <p:nvSpPr>
          <p:cNvPr id="9" name="TextBox 8"/>
          <p:cNvSpPr txBox="1"/>
          <p:nvPr/>
        </p:nvSpPr>
        <p:spPr>
          <a:xfrm>
            <a:off x="795528" y="1783080"/>
            <a:ext cx="4910328" cy="1307592"/>
          </a:xfrm>
          <a:prstGeom prst="rect">
            <a:avLst/>
          </a:prstGeom>
          <a:noFill/>
        </p:spPr>
        <p:txBody>
          <a:bodyPr wrap="square">
            <a:spAutoFit/>
          </a:bodyPr>
          <a:lstStyle/>
          <a:p>
            <a:pPr algn="l">
              <a:defRPr sz="1400" b="0">
                <a:solidFill>
                  <a:srgbClr val="232A34"/>
                </a:solidFill>
              </a:defRPr>
            </a:pPr>
            <a:r>
              <a:t>Program entry point</a:t>
            </a:r>
            <a:br/>
            <a:r>
              <a:t>Reads file paths</a:t>
            </a:r>
            <a:br/>
            <a:r>
              <a:t>Runs the analysis pipeline</a:t>
            </a:r>
            <a:br/>
            <a:r>
              <a:t>Displays final results</a:t>
            </a:r>
          </a:p>
        </p:txBody>
      </p:sp>
      <p:sp>
        <p:nvSpPr>
          <p:cNvPr id="10" name="Rounded Rectangle 9"/>
          <p:cNvSpPr/>
          <p:nvPr/>
        </p:nvSpPr>
        <p:spPr>
          <a:xfrm>
            <a:off x="6309360" y="1234440"/>
            <a:ext cx="5257800" cy="19659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234440"/>
            <a:ext cx="73152" cy="1965960"/>
          </a:xfrm>
          <a:prstGeom prst="rect">
            <a:avLst/>
          </a:prstGeom>
          <a:solidFill>
            <a:srgbClr val="41A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380744"/>
            <a:ext cx="4937760" cy="320040"/>
          </a:xfrm>
          <a:prstGeom prst="rect">
            <a:avLst/>
          </a:prstGeom>
          <a:noFill/>
        </p:spPr>
        <p:txBody>
          <a:bodyPr wrap="square">
            <a:spAutoFit/>
          </a:bodyPr>
          <a:lstStyle/>
          <a:p>
            <a:pPr algn="l">
              <a:defRPr sz="1800" b="1">
                <a:solidFill>
                  <a:srgbClr val="11233F"/>
                </a:solidFill>
              </a:defRPr>
            </a:pPr>
            <a:r>
              <a:t>DocumentReader.java</a:t>
            </a:r>
          </a:p>
        </p:txBody>
      </p:sp>
      <p:sp>
        <p:nvSpPr>
          <p:cNvPr id="13" name="TextBox 12"/>
          <p:cNvSpPr txBox="1"/>
          <p:nvPr/>
        </p:nvSpPr>
        <p:spPr>
          <a:xfrm>
            <a:off x="6510528" y="1783080"/>
            <a:ext cx="4910328" cy="1307592"/>
          </a:xfrm>
          <a:prstGeom prst="rect">
            <a:avLst/>
          </a:prstGeom>
          <a:noFill/>
        </p:spPr>
        <p:txBody>
          <a:bodyPr wrap="square">
            <a:spAutoFit/>
          </a:bodyPr>
          <a:lstStyle/>
          <a:p>
            <a:pPr algn="l">
              <a:defRPr sz="1400" b="0">
                <a:solidFill>
                  <a:srgbClr val="232A34"/>
                </a:solidFill>
              </a:defRPr>
            </a:pPr>
            <a:r>
              <a:t>Checks file existence</a:t>
            </a:r>
            <a:br/>
            <a:r>
              <a:t>Reads file content</a:t>
            </a:r>
            <a:br/>
            <a:r>
              <a:t>Handles I/O errors</a:t>
            </a:r>
          </a:p>
        </p:txBody>
      </p:sp>
      <p:sp>
        <p:nvSpPr>
          <p:cNvPr id="14" name="Rounded Rectangle 13"/>
          <p:cNvSpPr/>
          <p:nvPr/>
        </p:nvSpPr>
        <p:spPr>
          <a:xfrm>
            <a:off x="594360" y="3566160"/>
            <a:ext cx="5257800" cy="19659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3566160"/>
            <a:ext cx="73152" cy="1965960"/>
          </a:xfrm>
          <a:prstGeom prst="rect">
            <a:avLst/>
          </a:prstGeom>
          <a:solidFill>
            <a:srgbClr val="745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 y="3712463"/>
            <a:ext cx="4937760" cy="320040"/>
          </a:xfrm>
          <a:prstGeom prst="rect">
            <a:avLst/>
          </a:prstGeom>
          <a:noFill/>
        </p:spPr>
        <p:txBody>
          <a:bodyPr wrap="square">
            <a:spAutoFit/>
          </a:bodyPr>
          <a:lstStyle/>
          <a:p>
            <a:pPr algn="l">
              <a:defRPr sz="1800" b="1">
                <a:solidFill>
                  <a:srgbClr val="11233F"/>
                </a:solidFill>
              </a:defRPr>
            </a:pPr>
            <a:r>
              <a:t>TextProcessor.java</a:t>
            </a:r>
          </a:p>
        </p:txBody>
      </p:sp>
      <p:sp>
        <p:nvSpPr>
          <p:cNvPr id="17" name="TextBox 16"/>
          <p:cNvSpPr txBox="1"/>
          <p:nvPr/>
        </p:nvSpPr>
        <p:spPr>
          <a:xfrm>
            <a:off x="795528" y="4114800"/>
            <a:ext cx="4910328" cy="1307592"/>
          </a:xfrm>
          <a:prstGeom prst="rect">
            <a:avLst/>
          </a:prstGeom>
          <a:noFill/>
        </p:spPr>
        <p:txBody>
          <a:bodyPr wrap="square">
            <a:spAutoFit/>
          </a:bodyPr>
          <a:lstStyle/>
          <a:p>
            <a:pPr algn="l">
              <a:defRPr sz="1400" b="0">
                <a:solidFill>
                  <a:srgbClr val="232A34"/>
                </a:solidFill>
              </a:defRPr>
            </a:pPr>
            <a:r>
              <a:t>Cleaning</a:t>
            </a:r>
            <a:br/>
            <a:r>
              <a:t>Tokenization</a:t>
            </a:r>
            <a:br/>
            <a:r>
              <a:t>Stop-word removal</a:t>
            </a:r>
          </a:p>
        </p:txBody>
      </p:sp>
      <p:sp>
        <p:nvSpPr>
          <p:cNvPr id="18" name="Rounded Rectangle 17"/>
          <p:cNvSpPr/>
          <p:nvPr/>
        </p:nvSpPr>
        <p:spPr>
          <a:xfrm>
            <a:off x="6309360" y="3566160"/>
            <a:ext cx="5257800" cy="196596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3566160"/>
            <a:ext cx="73152" cy="1965960"/>
          </a:xfrm>
          <a:prstGeom prst="rect">
            <a:avLst/>
          </a:prstGeom>
          <a:solidFill>
            <a:srgbClr val="2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3712463"/>
            <a:ext cx="4937760" cy="320040"/>
          </a:xfrm>
          <a:prstGeom prst="rect">
            <a:avLst/>
          </a:prstGeom>
          <a:noFill/>
        </p:spPr>
        <p:txBody>
          <a:bodyPr wrap="square">
            <a:spAutoFit/>
          </a:bodyPr>
          <a:lstStyle/>
          <a:p>
            <a:pPr algn="l">
              <a:defRPr sz="1800" b="1">
                <a:solidFill>
                  <a:srgbClr val="11233F"/>
                </a:solidFill>
              </a:defRPr>
            </a:pPr>
            <a:r>
              <a:t>PlagiarismChecker.java</a:t>
            </a:r>
          </a:p>
        </p:txBody>
      </p:sp>
      <p:sp>
        <p:nvSpPr>
          <p:cNvPr id="21" name="TextBox 20"/>
          <p:cNvSpPr txBox="1"/>
          <p:nvPr/>
        </p:nvSpPr>
        <p:spPr>
          <a:xfrm>
            <a:off x="6510528" y="4114800"/>
            <a:ext cx="4910328" cy="1307592"/>
          </a:xfrm>
          <a:prstGeom prst="rect">
            <a:avLst/>
          </a:prstGeom>
          <a:noFill/>
        </p:spPr>
        <p:txBody>
          <a:bodyPr wrap="square">
            <a:spAutoFit/>
          </a:bodyPr>
          <a:lstStyle/>
          <a:p>
            <a:pPr algn="l">
              <a:defRPr sz="1400" b="0">
                <a:solidFill>
                  <a:srgbClr val="232A34"/>
                </a:solidFill>
              </a:defRPr>
            </a:pPr>
            <a:r>
              <a:t>TF-IDF</a:t>
            </a:r>
            <a:br/>
            <a:r>
              <a:t>Cosine similarity</a:t>
            </a:r>
            <a:br/>
            <a:r>
              <a:t>LCS string matching</a:t>
            </a:r>
            <a:br/>
            <a:r>
              <a:t>N-gram similarity</a:t>
            </a:r>
            <a:br/>
            <a:r>
              <a:t>Final score + classification</a:t>
            </a:r>
          </a:p>
        </p:txBody>
      </p:sp>
      <p:sp>
        <p:nvSpPr>
          <p:cNvPr id="22" name="TextBox 21"/>
          <p:cNvSpPr txBox="1"/>
          <p:nvPr/>
        </p:nvSpPr>
        <p:spPr>
          <a:xfrm>
            <a:off x="914400" y="6080760"/>
            <a:ext cx="10332720" cy="365760"/>
          </a:xfrm>
          <a:prstGeom prst="rect">
            <a:avLst/>
          </a:prstGeom>
          <a:noFill/>
        </p:spPr>
        <p:txBody>
          <a:bodyPr wrap="square">
            <a:spAutoFit/>
          </a:bodyPr>
          <a:lstStyle/>
          <a:p>
            <a:pPr algn="ctr">
              <a:defRPr sz="1400" b="1">
                <a:solidFill>
                  <a:srgbClr val="11233F"/>
                </a:solidFill>
              </a:defRPr>
            </a:pPr>
            <a:r>
              <a:t>Eclipse project: DSA_3_project → src → StudentPlagiarismChecker</a:t>
            </a:r>
          </a:p>
        </p:txBody>
      </p:sp>
      <p:sp>
        <p:nvSpPr>
          <p:cNvPr id="23" name="Rectangle 22"/>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4285853" cy="477054"/>
          </a:xfrm>
          <a:prstGeom prst="rect">
            <a:avLst/>
          </a:prstGeom>
          <a:noFill/>
        </p:spPr>
        <p:txBody>
          <a:bodyPr wrap="none">
            <a:spAutoFit/>
          </a:bodyPr>
          <a:lstStyle/>
          <a:p>
            <a:pPr>
              <a:defRPr sz="2500" b="1">
                <a:solidFill>
                  <a:srgbClr val="FFFFFF"/>
                </a:solidFill>
              </a:defRPr>
            </a:pPr>
            <a:r>
              <a:t>1</a:t>
            </a:r>
            <a:r>
              <a:rPr lang="en-IN"/>
              <a:t>4</a:t>
            </a:r>
            <a:r>
              <a:t>. Code Working — Main.java</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How the application controls the complete analysis</a:t>
            </a:r>
          </a:p>
        </p:txBody>
      </p:sp>
      <p:sp>
        <p:nvSpPr>
          <p:cNvPr id="6" name="Rounded Rectangle 5"/>
          <p:cNvSpPr/>
          <p:nvPr/>
        </p:nvSpPr>
        <p:spPr>
          <a:xfrm>
            <a:off x="594360" y="1051560"/>
            <a:ext cx="6858000" cy="5166360"/>
          </a:xfrm>
          <a:prstGeom prst="roundRect">
            <a:avLst/>
          </a:prstGeom>
          <a:solidFill>
            <a:srgbClr val="191F28"/>
          </a:solidFill>
          <a:ln>
            <a:solidFill>
              <a:srgbClr val="4650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1161288"/>
            <a:ext cx="6537960" cy="4983480"/>
          </a:xfrm>
          <a:prstGeom prst="rect">
            <a:avLst/>
          </a:prstGeom>
          <a:noFill/>
        </p:spPr>
        <p:txBody>
          <a:bodyPr wrap="none">
            <a:spAutoFit/>
          </a:bodyPr>
          <a:lstStyle/>
          <a:p>
            <a:pPr>
              <a:defRPr sz="1100">
                <a:solidFill>
                  <a:srgbClr val="E1E8F0"/>
                </a:solidFill>
                <a:latin typeface="Consolas"/>
              </a:defRPr>
            </a:pPr>
            <a:r>
              <a:t>String file1 = scanner.nextLine().trim();</a:t>
            </a:r>
            <a:br/>
            <a:r>
              <a:t>String file2 = scanner.nextLine().trim();</a:t>
            </a:r>
            <a:br/>
            <a:br/>
            <a:r>
              <a:t>String text1 = DocumentReader.readFile(file1);</a:t>
            </a:r>
            <a:br/>
            <a:r>
              <a:t>String text2 = DocumentReader.readFile(file2);</a:t>
            </a:r>
            <a:br/>
            <a:br/>
            <a:r>
              <a:t>List&lt;String&gt; tokens1 = TextProcessor.tokenize(text1);</a:t>
            </a:r>
            <a:br/>
            <a:r>
              <a:t>List&lt;String&gt; tokens2 = TextProcessor.tokenize(text2);</a:t>
            </a:r>
            <a:br/>
            <a:br/>
            <a:r>
              <a:t>double cosine =</a:t>
            </a:r>
            <a:br/>
            <a:r>
              <a:t>    PlagiarismChecker.cosineSimilarity(tokens1, tokens2);</a:t>
            </a:r>
            <a:br/>
            <a:br/>
            <a:r>
              <a:t>double stringSimilarity =</a:t>
            </a:r>
            <a:br/>
            <a:r>
              <a:t>    PlagiarismChecker.stringSimilarity(tokens1, tokens2);</a:t>
            </a:r>
            <a:br/>
            <a:br/>
            <a:r>
              <a:t>double ngramSimilarity =</a:t>
            </a:r>
            <a:br/>
            <a:r>
              <a:t>    PlagiarismChecker.nGramSimilarity(text1, text2);</a:t>
            </a:r>
            <a:br/>
            <a:br/>
            <a:r>
              <a:t>double finalSimilarity =</a:t>
            </a:r>
            <a:br/>
            <a:r>
              <a:t>    PlagiarismChecker.calculateFinalSimilarity(</a:t>
            </a:r>
            <a:br/>
            <a:r>
              <a:t>        cosine, stringSimilarity, ngramSimilarity);</a:t>
            </a:r>
          </a:p>
        </p:txBody>
      </p:sp>
      <p:sp>
        <p:nvSpPr>
          <p:cNvPr id="8" name="Rounded Rectangle 7"/>
          <p:cNvSpPr/>
          <p:nvPr/>
        </p:nvSpPr>
        <p:spPr>
          <a:xfrm>
            <a:off x="7726679" y="1188720"/>
            <a:ext cx="3794760" cy="45262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26679" y="1188720"/>
            <a:ext cx="73152" cy="452628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27848" y="1335024"/>
            <a:ext cx="3474720" cy="320040"/>
          </a:xfrm>
          <a:prstGeom prst="rect">
            <a:avLst/>
          </a:prstGeom>
          <a:noFill/>
        </p:spPr>
        <p:txBody>
          <a:bodyPr wrap="square">
            <a:spAutoFit/>
          </a:bodyPr>
          <a:lstStyle/>
          <a:p>
            <a:pPr algn="l">
              <a:defRPr sz="1700" b="1">
                <a:solidFill>
                  <a:srgbClr val="11233F"/>
                </a:solidFill>
              </a:defRPr>
            </a:pPr>
            <a:r>
              <a:t>Control Flow</a:t>
            </a:r>
          </a:p>
        </p:txBody>
      </p:sp>
      <p:sp>
        <p:nvSpPr>
          <p:cNvPr id="11" name="TextBox 10"/>
          <p:cNvSpPr txBox="1"/>
          <p:nvPr/>
        </p:nvSpPr>
        <p:spPr>
          <a:xfrm>
            <a:off x="7927848" y="1737360"/>
            <a:ext cx="3447288" cy="3867912"/>
          </a:xfrm>
          <a:prstGeom prst="rect">
            <a:avLst/>
          </a:prstGeom>
          <a:noFill/>
        </p:spPr>
        <p:txBody>
          <a:bodyPr wrap="square">
            <a:spAutoFit/>
          </a:bodyPr>
          <a:lstStyle/>
          <a:p>
            <a:pPr algn="l">
              <a:defRPr sz="1600" b="0">
                <a:solidFill>
                  <a:srgbClr val="232A34"/>
                </a:solidFill>
              </a:defRPr>
            </a:pPr>
            <a:r>
              <a:t>1. Get two file paths</a:t>
            </a:r>
            <a:br/>
            <a:r>
              <a:t>2. Read both files</a:t>
            </a:r>
            <a:br/>
            <a:r>
              <a:t>3. Preprocess both documents</a:t>
            </a:r>
            <a:br/>
            <a:r>
              <a:t>4. Run the three similarity algorithms</a:t>
            </a:r>
            <a:br/>
            <a:r>
              <a:t>5. Combine the scores</a:t>
            </a:r>
            <a:br/>
            <a:r>
              <a:t>6. Classify the result</a:t>
            </a:r>
            <a:br/>
            <a:r>
              <a:t>7. Print a transparent report</a:t>
            </a:r>
          </a:p>
        </p:txBody>
      </p:sp>
      <p:sp>
        <p:nvSpPr>
          <p:cNvPr id="12" name="Rectangle 11"/>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15. Actual Test Run</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Two sample student submissions tested in Eclipse</a:t>
            </a:r>
          </a:p>
        </p:txBody>
      </p:sp>
      <p:sp>
        <p:nvSpPr>
          <p:cNvPr id="6" name="Rounded Rectangle 5"/>
          <p:cNvSpPr/>
          <p:nvPr/>
        </p:nvSpPr>
        <p:spPr>
          <a:xfrm>
            <a:off x="594360" y="1051560"/>
            <a:ext cx="5212080" cy="45262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051560"/>
            <a:ext cx="73152" cy="452628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197863"/>
            <a:ext cx="4892040" cy="320040"/>
          </a:xfrm>
          <a:prstGeom prst="rect">
            <a:avLst/>
          </a:prstGeom>
          <a:noFill/>
        </p:spPr>
        <p:txBody>
          <a:bodyPr wrap="square">
            <a:spAutoFit/>
          </a:bodyPr>
          <a:lstStyle/>
          <a:p>
            <a:pPr algn="l">
              <a:defRPr sz="1700" b="1">
                <a:solidFill>
                  <a:srgbClr val="11233F"/>
                </a:solidFill>
              </a:defRPr>
            </a:pPr>
            <a:r>
              <a:t>Input</a:t>
            </a:r>
          </a:p>
        </p:txBody>
      </p:sp>
      <p:sp>
        <p:nvSpPr>
          <p:cNvPr id="9" name="TextBox 8"/>
          <p:cNvSpPr txBox="1"/>
          <p:nvPr/>
        </p:nvSpPr>
        <p:spPr>
          <a:xfrm>
            <a:off x="795528" y="1600200"/>
            <a:ext cx="4864608" cy="3867912"/>
          </a:xfrm>
          <a:prstGeom prst="rect">
            <a:avLst/>
          </a:prstGeom>
          <a:noFill/>
        </p:spPr>
        <p:txBody>
          <a:bodyPr wrap="square">
            <a:spAutoFit/>
          </a:bodyPr>
          <a:lstStyle/>
          <a:p>
            <a:pPr algn="l">
              <a:defRPr sz="1600" b="0">
                <a:solidFill>
                  <a:srgbClr val="232A34"/>
                </a:solidFill>
              </a:defRPr>
            </a:pPr>
            <a:r>
              <a:t>Student File 1:</a:t>
            </a:r>
            <a:br/>
            <a:r>
              <a:t>D:\student1.txt</a:t>
            </a:r>
            <a:br/>
            <a:br/>
            <a:r>
              <a:t>Student File 2:</a:t>
            </a:r>
            <a:br/>
            <a:r>
              <a:t>D:\student2.txt</a:t>
            </a:r>
            <a:br/>
            <a:br/>
            <a:r>
              <a:t>The files contain intentionally similar student-project text so the algorithms can produce a measurable similarity score.</a:t>
            </a:r>
          </a:p>
        </p:txBody>
      </p:sp>
      <p:sp>
        <p:nvSpPr>
          <p:cNvPr id="10" name="Rounded Rectangle 9"/>
          <p:cNvSpPr/>
          <p:nvPr/>
        </p:nvSpPr>
        <p:spPr>
          <a:xfrm>
            <a:off x="6172200" y="1280160"/>
            <a:ext cx="5303520" cy="2880360"/>
          </a:xfrm>
          <a:prstGeom prst="roundRect">
            <a:avLst/>
          </a:prstGeom>
          <a:solidFill>
            <a:srgbClr val="191F28"/>
          </a:solidFill>
          <a:ln>
            <a:solidFill>
              <a:srgbClr val="4650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6792" y="1389888"/>
            <a:ext cx="4983480" cy="2697479"/>
          </a:xfrm>
          <a:prstGeom prst="rect">
            <a:avLst/>
          </a:prstGeom>
          <a:noFill/>
        </p:spPr>
        <p:txBody>
          <a:bodyPr wrap="none">
            <a:spAutoFit/>
          </a:bodyPr>
          <a:lstStyle/>
          <a:p>
            <a:pPr>
              <a:defRPr sz="1300">
                <a:solidFill>
                  <a:srgbClr val="E1E8F0"/>
                </a:solidFill>
                <a:latin typeface="Consolas"/>
              </a:defRPr>
            </a:pPr>
            <a:r>
              <a:t>TF-IDF / Cosine Similarity : 47.43%</a:t>
            </a:r>
            <a:br/>
            <a:r>
              <a:t>String Similarity           : 61.54%</a:t>
            </a:r>
            <a:br/>
            <a:r>
              <a:t>N-Gram Similarity           : 41.18%</a:t>
            </a:r>
            <a:br/>
            <a:r>
              <a:t>--------------------------------</a:t>
            </a:r>
            <a:br/>
            <a:r>
              <a:t>FINAL SIMILARITY            : 50.41%</a:t>
            </a:r>
            <a:br/>
            <a:r>
              <a:t>CLASSIFICATION              : MEDIUM SIMILARITY</a:t>
            </a:r>
          </a:p>
        </p:txBody>
      </p:sp>
      <p:sp>
        <p:nvSpPr>
          <p:cNvPr id="12" name="TextBox 11"/>
          <p:cNvSpPr txBox="1"/>
          <p:nvPr/>
        </p:nvSpPr>
        <p:spPr>
          <a:xfrm>
            <a:off x="6446520" y="4480560"/>
            <a:ext cx="4754880" cy="457200"/>
          </a:xfrm>
          <a:prstGeom prst="rect">
            <a:avLst/>
          </a:prstGeom>
          <a:noFill/>
        </p:spPr>
        <p:txBody>
          <a:bodyPr wrap="square">
            <a:spAutoFit/>
          </a:bodyPr>
          <a:lstStyle/>
          <a:p>
            <a:pPr algn="ctr">
              <a:defRPr sz="1800" b="1">
                <a:solidFill>
                  <a:srgbClr val="11233F"/>
                </a:solidFill>
              </a:defRPr>
            </a:pPr>
            <a:r>
              <a:t>Observed result: 50.41% overall similarity</a:t>
            </a:r>
          </a:p>
        </p:txBody>
      </p:sp>
      <p:sp>
        <p:nvSpPr>
          <p:cNvPr id="13" name="TextBox 12"/>
          <p:cNvSpPr txBox="1"/>
          <p:nvPr/>
        </p:nvSpPr>
        <p:spPr>
          <a:xfrm>
            <a:off x="6400800" y="4983480"/>
            <a:ext cx="4846320" cy="594360"/>
          </a:xfrm>
          <a:prstGeom prst="rect">
            <a:avLst/>
          </a:prstGeom>
          <a:noFill/>
        </p:spPr>
        <p:txBody>
          <a:bodyPr wrap="square">
            <a:spAutoFit/>
          </a:bodyPr>
          <a:lstStyle/>
          <a:p>
            <a:pPr algn="ctr">
              <a:defRPr sz="1400" b="0">
                <a:solidFill>
                  <a:srgbClr val="646E7A"/>
                </a:solidFill>
              </a:defRPr>
            </a:pPr>
            <a:r>
              <a:t>The program completed successfully and reported all component scores separately.</a:t>
            </a:r>
          </a:p>
        </p:txBody>
      </p:sp>
      <p:sp>
        <p:nvSpPr>
          <p:cNvPr id="14" name="Rectangle 13"/>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16. Analysis &amp; Evaluation</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What is measured by the current prototype</a:t>
            </a:r>
          </a:p>
        </p:txBody>
      </p:sp>
      <p:sp>
        <p:nvSpPr>
          <p:cNvPr id="6" name="Rounded Rectangle 5"/>
          <p:cNvSpPr/>
          <p:nvPr/>
        </p:nvSpPr>
        <p:spPr>
          <a:xfrm>
            <a:off x="685800" y="1188720"/>
            <a:ext cx="5166360" cy="192024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188720"/>
            <a:ext cx="73152" cy="192024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335024"/>
            <a:ext cx="4846320" cy="320040"/>
          </a:xfrm>
          <a:prstGeom prst="rect">
            <a:avLst/>
          </a:prstGeom>
          <a:noFill/>
        </p:spPr>
        <p:txBody>
          <a:bodyPr wrap="square">
            <a:spAutoFit/>
          </a:bodyPr>
          <a:lstStyle/>
          <a:p>
            <a:pPr algn="l">
              <a:defRPr sz="1800" b="1">
                <a:solidFill>
                  <a:srgbClr val="11233F"/>
                </a:solidFill>
              </a:defRPr>
            </a:pPr>
            <a:r>
              <a:t>Similarity percentage</a:t>
            </a:r>
          </a:p>
        </p:txBody>
      </p:sp>
      <p:sp>
        <p:nvSpPr>
          <p:cNvPr id="9" name="TextBox 8"/>
          <p:cNvSpPr txBox="1"/>
          <p:nvPr/>
        </p:nvSpPr>
        <p:spPr>
          <a:xfrm>
            <a:off x="886968" y="1737360"/>
            <a:ext cx="4818888" cy="1261872"/>
          </a:xfrm>
          <a:prstGeom prst="rect">
            <a:avLst/>
          </a:prstGeom>
          <a:noFill/>
        </p:spPr>
        <p:txBody>
          <a:bodyPr wrap="square">
            <a:spAutoFit/>
          </a:bodyPr>
          <a:lstStyle/>
          <a:p>
            <a:pPr algn="l">
              <a:defRPr sz="1500" b="0">
                <a:solidFill>
                  <a:srgbClr val="232A34"/>
                </a:solidFill>
              </a:defRPr>
            </a:pPr>
            <a:r>
              <a:t>Final score for each document pair.</a:t>
            </a:r>
          </a:p>
        </p:txBody>
      </p:sp>
      <p:sp>
        <p:nvSpPr>
          <p:cNvPr id="10" name="Rounded Rectangle 9"/>
          <p:cNvSpPr/>
          <p:nvPr/>
        </p:nvSpPr>
        <p:spPr>
          <a:xfrm>
            <a:off x="6263640" y="1188720"/>
            <a:ext cx="5166360" cy="192024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188720"/>
            <a:ext cx="73152" cy="1920240"/>
          </a:xfrm>
          <a:prstGeom prst="rect">
            <a:avLst/>
          </a:prstGeom>
          <a:solidFill>
            <a:srgbClr val="745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4807" y="1335024"/>
            <a:ext cx="4846320" cy="320040"/>
          </a:xfrm>
          <a:prstGeom prst="rect">
            <a:avLst/>
          </a:prstGeom>
          <a:noFill/>
        </p:spPr>
        <p:txBody>
          <a:bodyPr wrap="square">
            <a:spAutoFit/>
          </a:bodyPr>
          <a:lstStyle/>
          <a:p>
            <a:pPr algn="l">
              <a:defRPr sz="1800" b="1">
                <a:solidFill>
                  <a:srgbClr val="11233F"/>
                </a:solidFill>
              </a:defRPr>
            </a:pPr>
            <a:r>
              <a:t>Component scores</a:t>
            </a:r>
          </a:p>
        </p:txBody>
      </p:sp>
      <p:sp>
        <p:nvSpPr>
          <p:cNvPr id="13" name="TextBox 12"/>
          <p:cNvSpPr txBox="1"/>
          <p:nvPr/>
        </p:nvSpPr>
        <p:spPr>
          <a:xfrm>
            <a:off x="6464807" y="1737360"/>
            <a:ext cx="4818888" cy="1261872"/>
          </a:xfrm>
          <a:prstGeom prst="rect">
            <a:avLst/>
          </a:prstGeom>
          <a:noFill/>
        </p:spPr>
        <p:txBody>
          <a:bodyPr wrap="square">
            <a:spAutoFit/>
          </a:bodyPr>
          <a:lstStyle/>
          <a:p>
            <a:pPr algn="l">
              <a:defRPr sz="1500" b="0">
                <a:solidFill>
                  <a:srgbClr val="232A34"/>
                </a:solidFill>
              </a:defRPr>
            </a:pPr>
            <a:r>
              <a:t>Cosine, String/LCS and N-Gram scores are visible separately.</a:t>
            </a:r>
          </a:p>
        </p:txBody>
      </p:sp>
      <p:sp>
        <p:nvSpPr>
          <p:cNvPr id="14" name="Rounded Rectangle 13"/>
          <p:cNvSpPr/>
          <p:nvPr/>
        </p:nvSpPr>
        <p:spPr>
          <a:xfrm>
            <a:off x="685800" y="3520439"/>
            <a:ext cx="5166360" cy="192024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800" y="3520439"/>
            <a:ext cx="73152" cy="1920240"/>
          </a:xfrm>
          <a:prstGeom prst="rect">
            <a:avLst/>
          </a:prstGeom>
          <a:solidFill>
            <a:srgbClr val="41A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3666744"/>
            <a:ext cx="4846320" cy="320040"/>
          </a:xfrm>
          <a:prstGeom prst="rect">
            <a:avLst/>
          </a:prstGeom>
          <a:noFill/>
        </p:spPr>
        <p:txBody>
          <a:bodyPr wrap="square">
            <a:spAutoFit/>
          </a:bodyPr>
          <a:lstStyle/>
          <a:p>
            <a:pPr algn="l">
              <a:defRPr sz="1800" b="1">
                <a:solidFill>
                  <a:srgbClr val="11233F"/>
                </a:solidFill>
              </a:defRPr>
            </a:pPr>
            <a:r>
              <a:t>Processing flow</a:t>
            </a:r>
          </a:p>
        </p:txBody>
      </p:sp>
      <p:sp>
        <p:nvSpPr>
          <p:cNvPr id="17" name="TextBox 16"/>
          <p:cNvSpPr txBox="1"/>
          <p:nvPr/>
        </p:nvSpPr>
        <p:spPr>
          <a:xfrm>
            <a:off x="886968" y="4069079"/>
            <a:ext cx="4818888" cy="1261872"/>
          </a:xfrm>
          <a:prstGeom prst="rect">
            <a:avLst/>
          </a:prstGeom>
          <a:noFill/>
        </p:spPr>
        <p:txBody>
          <a:bodyPr wrap="square">
            <a:spAutoFit/>
          </a:bodyPr>
          <a:lstStyle/>
          <a:p>
            <a:pPr algn="l">
              <a:defRPr sz="1500" b="0">
                <a:solidFill>
                  <a:srgbClr val="232A34"/>
                </a:solidFill>
              </a:defRPr>
            </a:pPr>
            <a:r>
              <a:t>Measures practical execution from reading to classification.</a:t>
            </a:r>
          </a:p>
        </p:txBody>
      </p:sp>
      <p:sp>
        <p:nvSpPr>
          <p:cNvPr id="18" name="Rounded Rectangle 17"/>
          <p:cNvSpPr/>
          <p:nvPr/>
        </p:nvSpPr>
        <p:spPr>
          <a:xfrm>
            <a:off x="6263640" y="3520439"/>
            <a:ext cx="5166360" cy="192024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3520439"/>
            <a:ext cx="73152" cy="1920240"/>
          </a:xfrm>
          <a:prstGeom prst="rect">
            <a:avLst/>
          </a:prstGeom>
          <a:solidFill>
            <a:srgbClr val="2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7" y="3666744"/>
            <a:ext cx="4846320" cy="320040"/>
          </a:xfrm>
          <a:prstGeom prst="rect">
            <a:avLst/>
          </a:prstGeom>
          <a:noFill/>
        </p:spPr>
        <p:txBody>
          <a:bodyPr wrap="square">
            <a:spAutoFit/>
          </a:bodyPr>
          <a:lstStyle/>
          <a:p>
            <a:pPr algn="l">
              <a:defRPr sz="1800" b="1">
                <a:solidFill>
                  <a:srgbClr val="11233F"/>
                </a:solidFill>
              </a:defRPr>
            </a:pPr>
            <a:r>
              <a:t>Result clarity</a:t>
            </a:r>
          </a:p>
        </p:txBody>
      </p:sp>
      <p:sp>
        <p:nvSpPr>
          <p:cNvPr id="21" name="TextBox 20"/>
          <p:cNvSpPr txBox="1"/>
          <p:nvPr/>
        </p:nvSpPr>
        <p:spPr>
          <a:xfrm>
            <a:off x="6464807" y="4069079"/>
            <a:ext cx="4818888" cy="1261872"/>
          </a:xfrm>
          <a:prstGeom prst="rect">
            <a:avLst/>
          </a:prstGeom>
          <a:noFill/>
        </p:spPr>
        <p:txBody>
          <a:bodyPr wrap="square">
            <a:spAutoFit/>
          </a:bodyPr>
          <a:lstStyle/>
          <a:p>
            <a:pPr algn="l">
              <a:defRPr sz="1500" b="0">
                <a:solidFill>
                  <a:srgbClr val="232A34"/>
                </a:solidFill>
              </a:defRPr>
            </a:pPr>
            <a:r>
              <a:t>Simple HIGH / MEDIUM / LOW output supports instructor review.</a:t>
            </a:r>
          </a:p>
        </p:txBody>
      </p:sp>
      <p:sp>
        <p:nvSpPr>
          <p:cNvPr id="22" name="TextBox 21"/>
          <p:cNvSpPr txBox="1"/>
          <p:nvPr/>
        </p:nvSpPr>
        <p:spPr>
          <a:xfrm>
            <a:off x="914400" y="5897880"/>
            <a:ext cx="10332720" cy="457200"/>
          </a:xfrm>
          <a:prstGeom prst="rect">
            <a:avLst/>
          </a:prstGeom>
          <a:noFill/>
        </p:spPr>
        <p:txBody>
          <a:bodyPr wrap="square">
            <a:spAutoFit/>
          </a:bodyPr>
          <a:lstStyle/>
          <a:p>
            <a:pPr algn="ctr">
              <a:defRPr sz="1500" b="1">
                <a:solidFill>
                  <a:srgbClr val="CD4B4B"/>
                </a:solidFill>
              </a:defRPr>
            </a:pPr>
            <a:r>
              <a:t>Important: the similarity score is an indicator for review, not standalone proof of plagiarism.</a:t>
            </a:r>
          </a:p>
        </p:txBody>
      </p:sp>
      <p:sp>
        <p:nvSpPr>
          <p:cNvPr id="23" name="Rectangle 22"/>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17. DSA Concepts Used</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Why this is a DSA-3 project</a:t>
            </a:r>
          </a:p>
        </p:txBody>
      </p:sp>
      <p:sp>
        <p:nvSpPr>
          <p:cNvPr id="6" name="Rounded Rectangle 5"/>
          <p:cNvSpPr/>
          <p:nvPr/>
        </p:nvSpPr>
        <p:spPr>
          <a:xfrm>
            <a:off x="640080" y="1143000"/>
            <a:ext cx="3429000" cy="45262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143000"/>
            <a:ext cx="73152" cy="452628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289304"/>
            <a:ext cx="3108960" cy="320040"/>
          </a:xfrm>
          <a:prstGeom prst="rect">
            <a:avLst/>
          </a:prstGeom>
          <a:noFill/>
        </p:spPr>
        <p:txBody>
          <a:bodyPr wrap="square">
            <a:spAutoFit/>
          </a:bodyPr>
          <a:lstStyle/>
          <a:p>
            <a:pPr algn="l">
              <a:defRPr sz="1700" b="1">
                <a:solidFill>
                  <a:srgbClr val="11233F"/>
                </a:solidFill>
              </a:defRPr>
            </a:pPr>
            <a:r>
              <a:t>HashMap / HashSet</a:t>
            </a:r>
          </a:p>
        </p:txBody>
      </p:sp>
      <p:sp>
        <p:nvSpPr>
          <p:cNvPr id="9" name="TextBox 8"/>
          <p:cNvSpPr txBox="1"/>
          <p:nvPr/>
        </p:nvSpPr>
        <p:spPr>
          <a:xfrm>
            <a:off x="841247" y="1691640"/>
            <a:ext cx="3081528" cy="3867912"/>
          </a:xfrm>
          <a:prstGeom prst="rect">
            <a:avLst/>
          </a:prstGeom>
          <a:noFill/>
        </p:spPr>
        <p:txBody>
          <a:bodyPr wrap="square">
            <a:spAutoFit/>
          </a:bodyPr>
          <a:lstStyle/>
          <a:p>
            <a:pPr algn="l">
              <a:defRPr sz="1600" b="0">
                <a:solidFill>
                  <a:srgbClr val="232A34"/>
                </a:solidFill>
              </a:defRPr>
            </a:pPr>
            <a:r>
              <a:t>Used for term frequencies, vocabulary construction, n-gram sets and fast membership operations.</a:t>
            </a:r>
          </a:p>
        </p:txBody>
      </p:sp>
      <p:sp>
        <p:nvSpPr>
          <p:cNvPr id="10" name="Rounded Rectangle 9"/>
          <p:cNvSpPr/>
          <p:nvPr/>
        </p:nvSpPr>
        <p:spPr>
          <a:xfrm>
            <a:off x="4389120" y="1143000"/>
            <a:ext cx="3429000" cy="45262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143000"/>
            <a:ext cx="73152" cy="4526280"/>
          </a:xfrm>
          <a:prstGeom prst="rect">
            <a:avLst/>
          </a:prstGeom>
          <a:solidFill>
            <a:srgbClr val="745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289304"/>
            <a:ext cx="3108960" cy="320040"/>
          </a:xfrm>
          <a:prstGeom prst="rect">
            <a:avLst/>
          </a:prstGeom>
          <a:noFill/>
        </p:spPr>
        <p:txBody>
          <a:bodyPr wrap="square">
            <a:spAutoFit/>
          </a:bodyPr>
          <a:lstStyle/>
          <a:p>
            <a:pPr algn="l">
              <a:defRPr sz="1700" b="1">
                <a:solidFill>
                  <a:srgbClr val="11233F"/>
                </a:solidFill>
              </a:defRPr>
            </a:pPr>
            <a:r>
              <a:t>Dynamic Programming</a:t>
            </a:r>
          </a:p>
        </p:txBody>
      </p:sp>
      <p:sp>
        <p:nvSpPr>
          <p:cNvPr id="13" name="TextBox 12"/>
          <p:cNvSpPr txBox="1"/>
          <p:nvPr/>
        </p:nvSpPr>
        <p:spPr>
          <a:xfrm>
            <a:off x="4590288" y="1691640"/>
            <a:ext cx="3081528" cy="3867912"/>
          </a:xfrm>
          <a:prstGeom prst="rect">
            <a:avLst/>
          </a:prstGeom>
          <a:noFill/>
        </p:spPr>
        <p:txBody>
          <a:bodyPr wrap="square">
            <a:spAutoFit/>
          </a:bodyPr>
          <a:lstStyle/>
          <a:p>
            <a:pPr algn="l">
              <a:defRPr sz="1600" b="0">
                <a:solidFill>
                  <a:srgbClr val="232A34"/>
                </a:solidFill>
              </a:defRPr>
            </a:pPr>
            <a:r>
              <a:t>LCS uses a 2D DP table to find the longest common subsequence between token sequences.</a:t>
            </a:r>
          </a:p>
        </p:txBody>
      </p:sp>
      <p:sp>
        <p:nvSpPr>
          <p:cNvPr id="14" name="Rounded Rectangle 13"/>
          <p:cNvSpPr/>
          <p:nvPr/>
        </p:nvSpPr>
        <p:spPr>
          <a:xfrm>
            <a:off x="8138160" y="1143000"/>
            <a:ext cx="3429000" cy="45262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143000"/>
            <a:ext cx="73152" cy="4526280"/>
          </a:xfrm>
          <a:prstGeom prst="rect">
            <a:avLst/>
          </a:prstGeom>
          <a:solidFill>
            <a:srgbClr val="41A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8" y="1289304"/>
            <a:ext cx="3108960" cy="320040"/>
          </a:xfrm>
          <a:prstGeom prst="rect">
            <a:avLst/>
          </a:prstGeom>
          <a:noFill/>
        </p:spPr>
        <p:txBody>
          <a:bodyPr wrap="square">
            <a:spAutoFit/>
          </a:bodyPr>
          <a:lstStyle/>
          <a:p>
            <a:pPr algn="l">
              <a:defRPr sz="1700" b="1">
                <a:solidFill>
                  <a:srgbClr val="11233F"/>
                </a:solidFill>
              </a:defRPr>
            </a:pPr>
            <a:r>
              <a:t>Vectors &amp; Similarity</a:t>
            </a:r>
          </a:p>
        </p:txBody>
      </p:sp>
      <p:sp>
        <p:nvSpPr>
          <p:cNvPr id="17" name="TextBox 16"/>
          <p:cNvSpPr txBox="1"/>
          <p:nvPr/>
        </p:nvSpPr>
        <p:spPr>
          <a:xfrm>
            <a:off x="8339328" y="1691640"/>
            <a:ext cx="3081528" cy="3867912"/>
          </a:xfrm>
          <a:prstGeom prst="rect">
            <a:avLst/>
          </a:prstGeom>
          <a:noFill/>
        </p:spPr>
        <p:txBody>
          <a:bodyPr wrap="square">
            <a:spAutoFit/>
          </a:bodyPr>
          <a:lstStyle/>
          <a:p>
            <a:pPr algn="l">
              <a:defRPr sz="1600" b="0">
                <a:solidFill>
                  <a:srgbClr val="232A34"/>
                </a:solidFill>
              </a:defRPr>
            </a:pPr>
            <a:r>
              <a:t>TF-IDF creates numerical vectors and cosine similarity compares their orientation using dot products and magnitudes.</a:t>
            </a:r>
          </a:p>
        </p:txBody>
      </p:sp>
      <p:sp>
        <p:nvSpPr>
          <p:cNvPr id="18" name="Rectangle 17"/>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18. Advantages, Limitations &amp; Future Work</a:t>
            </a:r>
          </a:p>
        </p:txBody>
      </p:sp>
      <p:sp>
        <p:nvSpPr>
          <p:cNvPr id="5" name="Rounded Rectangle 4"/>
          <p:cNvSpPr/>
          <p:nvPr/>
        </p:nvSpPr>
        <p:spPr>
          <a:xfrm>
            <a:off x="594360" y="1097280"/>
            <a:ext cx="3520440" cy="4754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097280"/>
            <a:ext cx="73152" cy="4754880"/>
          </a:xfrm>
          <a:prstGeom prst="rect">
            <a:avLst/>
          </a:prstGeom>
          <a:solidFill>
            <a:srgbClr val="2D9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243584"/>
            <a:ext cx="3200400" cy="320040"/>
          </a:xfrm>
          <a:prstGeom prst="rect">
            <a:avLst/>
          </a:prstGeom>
          <a:noFill/>
        </p:spPr>
        <p:txBody>
          <a:bodyPr wrap="square">
            <a:spAutoFit/>
          </a:bodyPr>
          <a:lstStyle/>
          <a:p>
            <a:pPr algn="l">
              <a:defRPr sz="1700" b="1">
                <a:solidFill>
                  <a:srgbClr val="11233F"/>
                </a:solidFill>
              </a:defRPr>
            </a:pPr>
            <a:r>
              <a:t>Advantages</a:t>
            </a:r>
          </a:p>
        </p:txBody>
      </p:sp>
      <p:sp>
        <p:nvSpPr>
          <p:cNvPr id="8" name="TextBox 7"/>
          <p:cNvSpPr txBox="1"/>
          <p:nvPr/>
        </p:nvSpPr>
        <p:spPr>
          <a:xfrm>
            <a:off x="795528" y="1645919"/>
            <a:ext cx="3172968" cy="4096512"/>
          </a:xfrm>
          <a:prstGeom prst="rect">
            <a:avLst/>
          </a:prstGeom>
          <a:noFill/>
        </p:spPr>
        <p:txBody>
          <a:bodyPr wrap="square">
            <a:spAutoFit/>
          </a:bodyPr>
          <a:lstStyle/>
          <a:p>
            <a:pPr algn="l">
              <a:defRPr sz="1500" b="0">
                <a:solidFill>
                  <a:srgbClr val="232A34"/>
                </a:solidFill>
              </a:defRPr>
            </a:pPr>
            <a:r>
              <a:t>• Simple Java implementation</a:t>
            </a:r>
            <a:br/>
            <a:r>
              <a:t>• Multiple similarity signals</a:t>
            </a:r>
            <a:br/>
            <a:r>
              <a:t>• Transparent score components</a:t>
            </a:r>
            <a:br/>
            <a:r>
              <a:t>• Easy to demonstrate in Eclipse</a:t>
            </a:r>
            <a:br/>
            <a:r>
              <a:t>• No database or external server required for prototype</a:t>
            </a:r>
          </a:p>
        </p:txBody>
      </p:sp>
      <p:sp>
        <p:nvSpPr>
          <p:cNvPr id="9" name="Rounded Rectangle 8"/>
          <p:cNvSpPr/>
          <p:nvPr/>
        </p:nvSpPr>
        <p:spPr>
          <a:xfrm>
            <a:off x="4343400" y="1097280"/>
            <a:ext cx="3520440" cy="4754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097280"/>
            <a:ext cx="73152" cy="4754880"/>
          </a:xfrm>
          <a:prstGeom prst="rect">
            <a:avLst/>
          </a:prstGeom>
          <a:solidFill>
            <a:srgbClr val="CD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44568" y="1243584"/>
            <a:ext cx="3200400" cy="320040"/>
          </a:xfrm>
          <a:prstGeom prst="rect">
            <a:avLst/>
          </a:prstGeom>
          <a:noFill/>
        </p:spPr>
        <p:txBody>
          <a:bodyPr wrap="square">
            <a:spAutoFit/>
          </a:bodyPr>
          <a:lstStyle/>
          <a:p>
            <a:pPr algn="l">
              <a:defRPr sz="1700" b="1">
                <a:solidFill>
                  <a:srgbClr val="11233F"/>
                </a:solidFill>
              </a:defRPr>
            </a:pPr>
            <a:r>
              <a:t>Current Limitations</a:t>
            </a:r>
          </a:p>
        </p:txBody>
      </p:sp>
      <p:sp>
        <p:nvSpPr>
          <p:cNvPr id="12" name="TextBox 11"/>
          <p:cNvSpPr txBox="1"/>
          <p:nvPr/>
        </p:nvSpPr>
        <p:spPr>
          <a:xfrm>
            <a:off x="4544568" y="1645919"/>
            <a:ext cx="3172968" cy="4096512"/>
          </a:xfrm>
          <a:prstGeom prst="rect">
            <a:avLst/>
          </a:prstGeom>
          <a:noFill/>
        </p:spPr>
        <p:txBody>
          <a:bodyPr wrap="square">
            <a:spAutoFit/>
          </a:bodyPr>
          <a:lstStyle/>
          <a:p>
            <a:pPr algn="l">
              <a:defRPr sz="1500" b="0">
                <a:solidFill>
                  <a:srgbClr val="232A34"/>
                </a:solidFill>
              </a:defRPr>
            </a:pPr>
            <a:r>
              <a:t>• Current prototype reads text/source files directly.</a:t>
            </a:r>
            <a:br/>
            <a:r>
              <a:t>• PDF/DOCX extraction is not yet included in these four classes.</a:t>
            </a:r>
            <a:br/>
            <a:r>
              <a:t>• Current scoring weights are fixed.</a:t>
            </a:r>
            <a:br/>
            <a:r>
              <a:t>• The prototype compares two files at a time.</a:t>
            </a:r>
          </a:p>
        </p:txBody>
      </p:sp>
      <p:sp>
        <p:nvSpPr>
          <p:cNvPr id="13" name="Rounded Rectangle 12"/>
          <p:cNvSpPr/>
          <p:nvPr/>
        </p:nvSpPr>
        <p:spPr>
          <a:xfrm>
            <a:off x="8092440" y="1097280"/>
            <a:ext cx="3520440" cy="475488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92440" y="1097280"/>
            <a:ext cx="73152" cy="4754880"/>
          </a:xfrm>
          <a:prstGeom prst="rect">
            <a:avLst/>
          </a:prstGeom>
          <a:solidFill>
            <a:srgbClr val="2A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93608" y="1243584"/>
            <a:ext cx="3200400" cy="320040"/>
          </a:xfrm>
          <a:prstGeom prst="rect">
            <a:avLst/>
          </a:prstGeom>
          <a:noFill/>
        </p:spPr>
        <p:txBody>
          <a:bodyPr wrap="square">
            <a:spAutoFit/>
          </a:bodyPr>
          <a:lstStyle/>
          <a:p>
            <a:pPr algn="l">
              <a:defRPr sz="1700" b="1">
                <a:solidFill>
                  <a:srgbClr val="11233F"/>
                </a:solidFill>
              </a:defRPr>
            </a:pPr>
            <a:r>
              <a:t>Future Enhancement</a:t>
            </a:r>
          </a:p>
        </p:txBody>
      </p:sp>
      <p:sp>
        <p:nvSpPr>
          <p:cNvPr id="16" name="TextBox 15"/>
          <p:cNvSpPr txBox="1"/>
          <p:nvPr/>
        </p:nvSpPr>
        <p:spPr>
          <a:xfrm>
            <a:off x="8293608" y="1645919"/>
            <a:ext cx="3172968" cy="4096512"/>
          </a:xfrm>
          <a:prstGeom prst="rect">
            <a:avLst/>
          </a:prstGeom>
          <a:noFill/>
        </p:spPr>
        <p:txBody>
          <a:bodyPr wrap="square">
            <a:spAutoFit/>
          </a:bodyPr>
          <a:lstStyle/>
          <a:p>
            <a:pPr algn="l">
              <a:defRPr sz="1400" b="0">
                <a:solidFill>
                  <a:srgbClr val="232A34"/>
                </a:solidFill>
              </a:defRPr>
            </a:pPr>
            <a:r>
              <a:t>• PDF/DOCX extraction</a:t>
            </a:r>
            <a:br/>
            <a:r>
              <a:t>• Batch comparison of many submissions</a:t>
            </a:r>
            <a:br/>
            <a:r>
              <a:t>• Automated CSV/PDF reports</a:t>
            </a:r>
            <a:br/>
            <a:r>
              <a:t>• GUI/dashboard</a:t>
            </a:r>
            <a:br/>
            <a:r>
              <a:t>• Source-code normalization</a:t>
            </a:r>
            <a:br/>
            <a:r>
              <a:t>• Winnowing fingerprint implementation</a:t>
            </a:r>
            <a:br/>
            <a:r>
              <a:t>• Larger validation dataset</a:t>
            </a:r>
          </a:p>
        </p:txBody>
      </p:sp>
      <p:sp>
        <p:nvSpPr>
          <p:cNvPr id="17" name="Rectangle 16"/>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a:t>This project highlights how Data Structures and Algorithms can be effectively applied to detect plagiarism in student submissions. By combining text preprocessing, similarity measures like TF‑IDF and cosine comparison, and advanced string matching techniques, the system provides a quantifiable similarity score. The demonstrated test result of </a:t>
            </a:r>
            <a:r>
              <a:rPr lang="en-IN" b="1"/>
              <a:t>50.41% overall similarity</a:t>
            </a:r>
            <a:r>
              <a:rPr lang="en-IN"/>
              <a:t> indicates a </a:t>
            </a:r>
            <a:r>
              <a:rPr lang="en-IN" b="1"/>
              <a:t>medium similarity level</a:t>
            </a:r>
            <a:r>
              <a:rPr lang="en-IN"/>
              <a:t>, validating the approach as both practical and reliable for academic integrity checks.</a:t>
            </a:r>
            <a:endParaRPr/>
          </a:p>
        </p:txBody>
      </p:sp>
      <p:sp>
        <p:nvSpPr>
          <p:cNvPr id="3" name="TextBox 2"/>
          <p:cNvSpPr txBox="1"/>
          <p:nvPr/>
        </p:nvSpPr>
        <p:spPr>
          <a:xfrm>
            <a:off x="731520" y="822960"/>
            <a:ext cx="10789920" cy="594360"/>
          </a:xfrm>
          <a:prstGeom prst="rect">
            <a:avLst/>
          </a:prstGeom>
          <a:noFill/>
        </p:spPr>
        <p:txBody>
          <a:bodyPr wrap="square">
            <a:spAutoFit/>
          </a:bodyPr>
          <a:lstStyle/>
          <a:p>
            <a:pPr algn="ctr">
              <a:defRPr sz="3000" b="1">
                <a:solidFill>
                  <a:srgbClr val="FFFFFF"/>
                </a:solidFill>
              </a:defRPr>
            </a:pPr>
            <a:r>
              <a:t>FINAL CONCLUSION</a:t>
            </a:r>
          </a:p>
        </p:txBody>
      </p:sp>
      <p:sp>
        <p:nvSpPr>
          <p:cNvPr id="4" name="TextBox 3"/>
          <p:cNvSpPr txBox="1"/>
          <p:nvPr/>
        </p:nvSpPr>
        <p:spPr>
          <a:xfrm>
            <a:off x="914400" y="1737360"/>
            <a:ext cx="10332720" cy="914400"/>
          </a:xfrm>
          <a:prstGeom prst="rect">
            <a:avLst/>
          </a:prstGeom>
          <a:noFill/>
        </p:spPr>
        <p:txBody>
          <a:bodyPr wrap="square">
            <a:spAutoFit/>
          </a:bodyPr>
          <a:lstStyle/>
          <a:p>
            <a:pPr algn="ctr">
              <a:defRPr sz="2100" b="0">
                <a:solidFill>
                  <a:srgbClr val="FFFFFF"/>
                </a:solidFill>
              </a:defRPr>
            </a:pPr>
            <a:r>
              <a:t>The Student Project Plagiarism Checker demonstrates how DSA techniques can be combined to quantify similarity between student submissions.</a:t>
            </a:r>
          </a:p>
        </p:txBody>
      </p:sp>
      <p:sp>
        <p:nvSpPr>
          <p:cNvPr id="19" name="TextBox 18"/>
          <p:cNvSpPr txBox="1"/>
          <p:nvPr/>
        </p:nvSpPr>
        <p:spPr>
          <a:xfrm>
            <a:off x="731520" y="5715000"/>
            <a:ext cx="10789920" cy="548640"/>
          </a:xfrm>
          <a:prstGeom prst="rect">
            <a:avLst/>
          </a:prstGeom>
          <a:noFill/>
        </p:spPr>
        <p:txBody>
          <a:bodyPr wrap="square">
            <a:spAutoFit/>
          </a:bodyPr>
          <a:lstStyle/>
          <a:p>
            <a:pPr algn="ctr">
              <a:defRPr sz="2500" b="1">
                <a:solidFill>
                  <a:srgbClr val="FFFFFF"/>
                </a:solidFill>
              </a:defRPr>
            </a:pPr>
            <a:r>
              <a:t>Thank You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789920" cy="384048"/>
          </a:xfrm>
          <a:prstGeom prst="rect">
            <a:avLst/>
          </a:prstGeom>
          <a:noFill/>
        </p:spPr>
        <p:txBody>
          <a:bodyPr wrap="none">
            <a:spAutoFit/>
          </a:bodyPr>
          <a:lstStyle/>
          <a:p>
            <a:pPr>
              <a:defRPr sz="2500" b="1">
                <a:solidFill>
                  <a:srgbClr val="FFFFFF"/>
                </a:solidFill>
              </a:defRPr>
            </a:pPr>
            <a:r>
              <a:t>Appendix — Code-to-Presentation Mapping</a:t>
            </a:r>
          </a:p>
        </p:txBody>
      </p:sp>
      <p:sp>
        <p:nvSpPr>
          <p:cNvPr id="5" name="TextBox 4"/>
          <p:cNvSpPr txBox="1"/>
          <p:nvPr/>
        </p:nvSpPr>
        <p:spPr>
          <a:xfrm>
            <a:off x="530352" y="731520"/>
            <a:ext cx="10972800" cy="320040"/>
          </a:xfrm>
          <a:prstGeom prst="rect">
            <a:avLst/>
          </a:prstGeom>
          <a:noFill/>
        </p:spPr>
        <p:txBody>
          <a:bodyPr wrap="none">
            <a:spAutoFit/>
          </a:bodyPr>
          <a:lstStyle/>
          <a:p>
            <a:pPr>
              <a:defRPr sz="1100">
                <a:solidFill>
                  <a:srgbClr val="646E7A"/>
                </a:solidFill>
              </a:defRPr>
            </a:pPr>
            <a:r>
              <a:t>Use this slide during viva/project explanation</a:t>
            </a:r>
          </a:p>
        </p:txBody>
      </p:sp>
      <p:sp>
        <p:nvSpPr>
          <p:cNvPr id="6" name="Rectangle 5"/>
          <p:cNvSpPr/>
          <p:nvPr/>
        </p:nvSpPr>
        <p:spPr>
          <a:xfrm>
            <a:off x="594360" y="1143000"/>
            <a:ext cx="1828800" cy="4572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170432"/>
            <a:ext cx="1828800" cy="365760"/>
          </a:xfrm>
          <a:prstGeom prst="rect">
            <a:avLst/>
          </a:prstGeom>
          <a:noFill/>
        </p:spPr>
        <p:txBody>
          <a:bodyPr wrap="square">
            <a:spAutoFit/>
          </a:bodyPr>
          <a:lstStyle/>
          <a:p>
            <a:pPr algn="ctr">
              <a:defRPr sz="1200" b="1">
                <a:solidFill>
                  <a:srgbClr val="FFFFFF"/>
                </a:solidFill>
              </a:defRPr>
            </a:pPr>
            <a:r>
              <a:t>Topic</a:t>
            </a:r>
          </a:p>
        </p:txBody>
      </p:sp>
      <p:sp>
        <p:nvSpPr>
          <p:cNvPr id="8" name="Rectangle 7"/>
          <p:cNvSpPr/>
          <p:nvPr/>
        </p:nvSpPr>
        <p:spPr>
          <a:xfrm>
            <a:off x="2423160" y="1143000"/>
            <a:ext cx="3931920" cy="4572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23160" y="1170432"/>
            <a:ext cx="3931920" cy="365760"/>
          </a:xfrm>
          <a:prstGeom prst="rect">
            <a:avLst/>
          </a:prstGeom>
          <a:noFill/>
        </p:spPr>
        <p:txBody>
          <a:bodyPr wrap="square">
            <a:spAutoFit/>
          </a:bodyPr>
          <a:lstStyle/>
          <a:p>
            <a:pPr algn="ctr">
              <a:defRPr sz="1200" b="1">
                <a:solidFill>
                  <a:srgbClr val="FFFFFF"/>
                </a:solidFill>
              </a:defRPr>
            </a:pPr>
            <a:r>
              <a:t>Research Requirement</a:t>
            </a:r>
          </a:p>
        </p:txBody>
      </p:sp>
      <p:sp>
        <p:nvSpPr>
          <p:cNvPr id="10" name="Rectangle 9"/>
          <p:cNvSpPr/>
          <p:nvPr/>
        </p:nvSpPr>
        <p:spPr>
          <a:xfrm>
            <a:off x="6355080" y="1143000"/>
            <a:ext cx="5212080" cy="4572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170432"/>
            <a:ext cx="5212080" cy="365760"/>
          </a:xfrm>
          <a:prstGeom prst="rect">
            <a:avLst/>
          </a:prstGeom>
          <a:noFill/>
        </p:spPr>
        <p:txBody>
          <a:bodyPr wrap="square">
            <a:spAutoFit/>
          </a:bodyPr>
          <a:lstStyle/>
          <a:p>
            <a:pPr algn="ctr">
              <a:defRPr sz="1200" b="1">
                <a:solidFill>
                  <a:srgbClr val="FFFFFF"/>
                </a:solidFill>
              </a:defRPr>
            </a:pPr>
            <a:r>
              <a:t>Implemented Evidence</a:t>
            </a:r>
          </a:p>
        </p:txBody>
      </p:sp>
      <p:sp>
        <p:nvSpPr>
          <p:cNvPr id="12" name="Rectangle 11"/>
          <p:cNvSpPr/>
          <p:nvPr/>
        </p:nvSpPr>
        <p:spPr>
          <a:xfrm>
            <a:off x="594360" y="1645920"/>
            <a:ext cx="182880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1719072"/>
            <a:ext cx="1682496" cy="530352"/>
          </a:xfrm>
          <a:prstGeom prst="rect">
            <a:avLst/>
          </a:prstGeom>
          <a:noFill/>
        </p:spPr>
        <p:txBody>
          <a:bodyPr wrap="square">
            <a:spAutoFit/>
          </a:bodyPr>
          <a:lstStyle/>
          <a:p>
            <a:pPr algn="l">
              <a:defRPr sz="1150" b="1">
                <a:solidFill>
                  <a:srgbClr val="232A34"/>
                </a:solidFill>
              </a:defRPr>
            </a:pPr>
            <a:r>
              <a:t>Problem</a:t>
            </a:r>
          </a:p>
        </p:txBody>
      </p:sp>
      <p:sp>
        <p:nvSpPr>
          <p:cNvPr id="14" name="Rectangle 13"/>
          <p:cNvSpPr/>
          <p:nvPr/>
        </p:nvSpPr>
        <p:spPr>
          <a:xfrm>
            <a:off x="2423160" y="1645920"/>
            <a:ext cx="393192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96312" y="1719072"/>
            <a:ext cx="3785615" cy="530352"/>
          </a:xfrm>
          <a:prstGeom prst="rect">
            <a:avLst/>
          </a:prstGeom>
          <a:noFill/>
        </p:spPr>
        <p:txBody>
          <a:bodyPr wrap="square">
            <a:spAutoFit/>
          </a:bodyPr>
          <a:lstStyle/>
          <a:p>
            <a:pPr algn="l">
              <a:defRPr sz="1150" b="0">
                <a:solidFill>
                  <a:srgbClr val="232A34"/>
                </a:solidFill>
              </a:defRPr>
            </a:pPr>
            <a:r>
              <a:t>Manual comparison</a:t>
            </a:r>
          </a:p>
        </p:txBody>
      </p:sp>
      <p:sp>
        <p:nvSpPr>
          <p:cNvPr id="16" name="Rectangle 15"/>
          <p:cNvSpPr/>
          <p:nvPr/>
        </p:nvSpPr>
        <p:spPr>
          <a:xfrm>
            <a:off x="6355080" y="1645920"/>
            <a:ext cx="521208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28232" y="1719072"/>
            <a:ext cx="5065776" cy="530352"/>
          </a:xfrm>
          <a:prstGeom prst="rect">
            <a:avLst/>
          </a:prstGeom>
          <a:noFill/>
        </p:spPr>
        <p:txBody>
          <a:bodyPr wrap="square">
            <a:spAutoFit/>
          </a:bodyPr>
          <a:lstStyle/>
          <a:p>
            <a:pPr algn="l">
              <a:defRPr sz="1150" b="0">
                <a:solidFill>
                  <a:srgbClr val="232A34"/>
                </a:solidFill>
              </a:defRPr>
            </a:pPr>
            <a:r>
              <a:t>Automated pairwise similarity</a:t>
            </a:r>
          </a:p>
        </p:txBody>
      </p:sp>
      <p:sp>
        <p:nvSpPr>
          <p:cNvPr id="18" name="Rectangle 17"/>
          <p:cNvSpPr/>
          <p:nvPr/>
        </p:nvSpPr>
        <p:spPr>
          <a:xfrm>
            <a:off x="594360" y="2395728"/>
            <a:ext cx="182880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2468880"/>
            <a:ext cx="1682496" cy="530352"/>
          </a:xfrm>
          <a:prstGeom prst="rect">
            <a:avLst/>
          </a:prstGeom>
          <a:noFill/>
        </p:spPr>
        <p:txBody>
          <a:bodyPr wrap="square">
            <a:spAutoFit/>
          </a:bodyPr>
          <a:lstStyle/>
          <a:p>
            <a:pPr algn="l">
              <a:defRPr sz="1150" b="1">
                <a:solidFill>
                  <a:srgbClr val="232A34"/>
                </a:solidFill>
              </a:defRPr>
            </a:pPr>
            <a:r>
              <a:t>Research gap</a:t>
            </a:r>
          </a:p>
        </p:txBody>
      </p:sp>
      <p:sp>
        <p:nvSpPr>
          <p:cNvPr id="20" name="Rectangle 19"/>
          <p:cNvSpPr/>
          <p:nvPr/>
        </p:nvSpPr>
        <p:spPr>
          <a:xfrm>
            <a:off x="2423160" y="2395728"/>
            <a:ext cx="393192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96312" y="2468880"/>
            <a:ext cx="3785615" cy="530352"/>
          </a:xfrm>
          <a:prstGeom prst="rect">
            <a:avLst/>
          </a:prstGeom>
          <a:noFill/>
        </p:spPr>
        <p:txBody>
          <a:bodyPr wrap="square">
            <a:spAutoFit/>
          </a:bodyPr>
          <a:lstStyle/>
          <a:p>
            <a:pPr algn="l">
              <a:defRPr sz="1150" b="0">
                <a:solidFill>
                  <a:srgbClr val="232A34"/>
                </a:solidFill>
              </a:defRPr>
            </a:pPr>
            <a:r>
              <a:t>Multiple similarity methods needed</a:t>
            </a:r>
          </a:p>
        </p:txBody>
      </p:sp>
      <p:sp>
        <p:nvSpPr>
          <p:cNvPr id="22" name="Rectangle 21"/>
          <p:cNvSpPr/>
          <p:nvPr/>
        </p:nvSpPr>
        <p:spPr>
          <a:xfrm>
            <a:off x="6355080" y="2395728"/>
            <a:ext cx="521208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28232" y="2468880"/>
            <a:ext cx="5065776" cy="530352"/>
          </a:xfrm>
          <a:prstGeom prst="rect">
            <a:avLst/>
          </a:prstGeom>
          <a:noFill/>
        </p:spPr>
        <p:txBody>
          <a:bodyPr wrap="square">
            <a:spAutoFit/>
          </a:bodyPr>
          <a:lstStyle/>
          <a:p>
            <a:pPr algn="l">
              <a:defRPr sz="1150" b="0">
                <a:solidFill>
                  <a:srgbClr val="232A34"/>
                </a:solidFill>
              </a:defRPr>
            </a:pPr>
            <a:r>
              <a:t>Cosine + LCS + N-Gram</a:t>
            </a:r>
          </a:p>
        </p:txBody>
      </p:sp>
      <p:sp>
        <p:nvSpPr>
          <p:cNvPr id="24" name="Rectangle 23"/>
          <p:cNvSpPr/>
          <p:nvPr/>
        </p:nvSpPr>
        <p:spPr>
          <a:xfrm>
            <a:off x="594360" y="3145536"/>
            <a:ext cx="182880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3218688"/>
            <a:ext cx="1682496" cy="530352"/>
          </a:xfrm>
          <a:prstGeom prst="rect">
            <a:avLst/>
          </a:prstGeom>
          <a:noFill/>
        </p:spPr>
        <p:txBody>
          <a:bodyPr wrap="square">
            <a:spAutoFit/>
          </a:bodyPr>
          <a:lstStyle/>
          <a:p>
            <a:pPr algn="l">
              <a:defRPr sz="1150" b="1">
                <a:solidFill>
                  <a:srgbClr val="232A34"/>
                </a:solidFill>
              </a:defRPr>
            </a:pPr>
            <a:r>
              <a:t>Methodology</a:t>
            </a:r>
          </a:p>
        </p:txBody>
      </p:sp>
      <p:sp>
        <p:nvSpPr>
          <p:cNvPr id="26" name="Rectangle 25"/>
          <p:cNvSpPr/>
          <p:nvPr/>
        </p:nvSpPr>
        <p:spPr>
          <a:xfrm>
            <a:off x="2423160" y="3145536"/>
            <a:ext cx="393192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96312" y="3218688"/>
            <a:ext cx="3785615" cy="530352"/>
          </a:xfrm>
          <a:prstGeom prst="rect">
            <a:avLst/>
          </a:prstGeom>
          <a:noFill/>
        </p:spPr>
        <p:txBody>
          <a:bodyPr wrap="square">
            <a:spAutoFit/>
          </a:bodyPr>
          <a:lstStyle/>
          <a:p>
            <a:pPr algn="l">
              <a:defRPr sz="1150" b="0">
                <a:solidFill>
                  <a:srgbClr val="232A34"/>
                </a:solidFill>
              </a:defRPr>
            </a:pPr>
            <a:r>
              <a:t>9-stage pipeline</a:t>
            </a:r>
          </a:p>
        </p:txBody>
      </p:sp>
      <p:sp>
        <p:nvSpPr>
          <p:cNvPr id="28" name="Rectangle 27"/>
          <p:cNvSpPr/>
          <p:nvPr/>
        </p:nvSpPr>
        <p:spPr>
          <a:xfrm>
            <a:off x="6355080" y="3145536"/>
            <a:ext cx="521208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28232" y="3218688"/>
            <a:ext cx="5065776" cy="530352"/>
          </a:xfrm>
          <a:prstGeom prst="rect">
            <a:avLst/>
          </a:prstGeom>
          <a:noFill/>
        </p:spPr>
        <p:txBody>
          <a:bodyPr wrap="square">
            <a:spAutoFit/>
          </a:bodyPr>
          <a:lstStyle/>
          <a:p>
            <a:pPr algn="l">
              <a:defRPr sz="1150" b="0">
                <a:solidFill>
                  <a:srgbClr val="232A34"/>
                </a:solidFill>
              </a:defRPr>
            </a:pPr>
            <a:r>
              <a:t>Implemented in Main.java</a:t>
            </a:r>
          </a:p>
        </p:txBody>
      </p:sp>
      <p:sp>
        <p:nvSpPr>
          <p:cNvPr id="30" name="Rectangle 29"/>
          <p:cNvSpPr/>
          <p:nvPr/>
        </p:nvSpPr>
        <p:spPr>
          <a:xfrm>
            <a:off x="594360" y="3895344"/>
            <a:ext cx="182880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7512" y="3968496"/>
            <a:ext cx="1682496" cy="530352"/>
          </a:xfrm>
          <a:prstGeom prst="rect">
            <a:avLst/>
          </a:prstGeom>
          <a:noFill/>
        </p:spPr>
        <p:txBody>
          <a:bodyPr wrap="square">
            <a:spAutoFit/>
          </a:bodyPr>
          <a:lstStyle/>
          <a:p>
            <a:pPr algn="l">
              <a:defRPr sz="1150" b="1">
                <a:solidFill>
                  <a:srgbClr val="232A34"/>
                </a:solidFill>
              </a:defRPr>
            </a:pPr>
            <a:r>
              <a:t>DSA</a:t>
            </a:r>
          </a:p>
        </p:txBody>
      </p:sp>
      <p:sp>
        <p:nvSpPr>
          <p:cNvPr id="32" name="Rectangle 31"/>
          <p:cNvSpPr/>
          <p:nvPr/>
        </p:nvSpPr>
        <p:spPr>
          <a:xfrm>
            <a:off x="2423160" y="3895344"/>
            <a:ext cx="393192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96312" y="3968496"/>
            <a:ext cx="3785615" cy="530352"/>
          </a:xfrm>
          <a:prstGeom prst="rect">
            <a:avLst/>
          </a:prstGeom>
          <a:noFill/>
        </p:spPr>
        <p:txBody>
          <a:bodyPr wrap="square">
            <a:spAutoFit/>
          </a:bodyPr>
          <a:lstStyle/>
          <a:p>
            <a:pPr algn="l">
              <a:defRPr sz="1150" b="0">
                <a:solidFill>
                  <a:srgbClr val="232A34"/>
                </a:solidFill>
              </a:defRPr>
            </a:pPr>
            <a:r>
              <a:t>Efficient data handling</a:t>
            </a:r>
          </a:p>
        </p:txBody>
      </p:sp>
      <p:sp>
        <p:nvSpPr>
          <p:cNvPr id="34" name="Rectangle 33"/>
          <p:cNvSpPr/>
          <p:nvPr/>
        </p:nvSpPr>
        <p:spPr>
          <a:xfrm>
            <a:off x="6355080" y="3895344"/>
            <a:ext cx="521208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28232" y="3968496"/>
            <a:ext cx="5065776" cy="530352"/>
          </a:xfrm>
          <a:prstGeom prst="rect">
            <a:avLst/>
          </a:prstGeom>
          <a:noFill/>
        </p:spPr>
        <p:txBody>
          <a:bodyPr wrap="square">
            <a:spAutoFit/>
          </a:bodyPr>
          <a:lstStyle/>
          <a:p>
            <a:pPr algn="l">
              <a:defRPr sz="1150" b="0">
                <a:solidFill>
                  <a:srgbClr val="232A34"/>
                </a:solidFill>
              </a:defRPr>
            </a:pPr>
            <a:r>
              <a:t>HashMap, HashSet, Dynamic Programming</a:t>
            </a:r>
          </a:p>
        </p:txBody>
      </p:sp>
      <p:sp>
        <p:nvSpPr>
          <p:cNvPr id="36" name="Rectangle 35"/>
          <p:cNvSpPr/>
          <p:nvPr/>
        </p:nvSpPr>
        <p:spPr>
          <a:xfrm>
            <a:off x="594360" y="4645152"/>
            <a:ext cx="182880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7512" y="4718304"/>
            <a:ext cx="1682496" cy="530352"/>
          </a:xfrm>
          <a:prstGeom prst="rect">
            <a:avLst/>
          </a:prstGeom>
          <a:noFill/>
        </p:spPr>
        <p:txBody>
          <a:bodyPr wrap="square">
            <a:spAutoFit/>
          </a:bodyPr>
          <a:lstStyle/>
          <a:p>
            <a:pPr algn="l">
              <a:defRPr sz="1150" b="1">
                <a:solidFill>
                  <a:srgbClr val="232A34"/>
                </a:solidFill>
              </a:defRPr>
            </a:pPr>
            <a:r>
              <a:t>Evaluation</a:t>
            </a:r>
          </a:p>
        </p:txBody>
      </p:sp>
      <p:sp>
        <p:nvSpPr>
          <p:cNvPr id="38" name="Rectangle 37"/>
          <p:cNvSpPr/>
          <p:nvPr/>
        </p:nvSpPr>
        <p:spPr>
          <a:xfrm>
            <a:off x="2423160" y="4645152"/>
            <a:ext cx="393192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496312" y="4718304"/>
            <a:ext cx="3785615" cy="530352"/>
          </a:xfrm>
          <a:prstGeom prst="rect">
            <a:avLst/>
          </a:prstGeom>
          <a:noFill/>
        </p:spPr>
        <p:txBody>
          <a:bodyPr wrap="square">
            <a:spAutoFit/>
          </a:bodyPr>
          <a:lstStyle/>
          <a:p>
            <a:pPr algn="l">
              <a:defRPr sz="1150" b="0">
                <a:solidFill>
                  <a:srgbClr val="232A34"/>
                </a:solidFill>
              </a:defRPr>
            </a:pPr>
            <a:r>
              <a:t>Similarity percentage</a:t>
            </a:r>
          </a:p>
        </p:txBody>
      </p:sp>
      <p:sp>
        <p:nvSpPr>
          <p:cNvPr id="40" name="Rectangle 39"/>
          <p:cNvSpPr/>
          <p:nvPr/>
        </p:nvSpPr>
        <p:spPr>
          <a:xfrm>
            <a:off x="6355080" y="4645152"/>
            <a:ext cx="5212080" cy="685800"/>
          </a:xfrm>
          <a:prstGeom prst="rect">
            <a:avLst/>
          </a:prstGeom>
          <a:solidFill>
            <a:srgbClr val="FFFFFF"/>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28232" y="4718304"/>
            <a:ext cx="5065776" cy="530352"/>
          </a:xfrm>
          <a:prstGeom prst="rect">
            <a:avLst/>
          </a:prstGeom>
          <a:noFill/>
        </p:spPr>
        <p:txBody>
          <a:bodyPr wrap="square">
            <a:spAutoFit/>
          </a:bodyPr>
          <a:lstStyle/>
          <a:p>
            <a:pPr algn="l">
              <a:defRPr sz="1150" b="0">
                <a:solidFill>
                  <a:srgbClr val="232A34"/>
                </a:solidFill>
              </a:defRPr>
            </a:pPr>
            <a:r>
              <a:t>50.41% in actual test run</a:t>
            </a:r>
          </a:p>
        </p:txBody>
      </p:sp>
      <p:sp>
        <p:nvSpPr>
          <p:cNvPr id="42" name="Rectangle 41"/>
          <p:cNvSpPr/>
          <p:nvPr/>
        </p:nvSpPr>
        <p:spPr>
          <a:xfrm>
            <a:off x="594360" y="5394959"/>
            <a:ext cx="182880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7512" y="5468112"/>
            <a:ext cx="1682496" cy="530352"/>
          </a:xfrm>
          <a:prstGeom prst="rect">
            <a:avLst/>
          </a:prstGeom>
          <a:noFill/>
        </p:spPr>
        <p:txBody>
          <a:bodyPr wrap="square">
            <a:spAutoFit/>
          </a:bodyPr>
          <a:lstStyle/>
          <a:p>
            <a:pPr algn="l">
              <a:defRPr sz="1150" b="1">
                <a:solidFill>
                  <a:srgbClr val="232A34"/>
                </a:solidFill>
              </a:defRPr>
            </a:pPr>
            <a:r>
              <a:t>Output</a:t>
            </a:r>
          </a:p>
        </p:txBody>
      </p:sp>
      <p:sp>
        <p:nvSpPr>
          <p:cNvPr id="44" name="Rectangle 43"/>
          <p:cNvSpPr/>
          <p:nvPr/>
        </p:nvSpPr>
        <p:spPr>
          <a:xfrm>
            <a:off x="2423160" y="5394959"/>
            <a:ext cx="393192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96312" y="5468112"/>
            <a:ext cx="3785615" cy="530352"/>
          </a:xfrm>
          <a:prstGeom prst="rect">
            <a:avLst/>
          </a:prstGeom>
          <a:noFill/>
        </p:spPr>
        <p:txBody>
          <a:bodyPr wrap="square">
            <a:spAutoFit/>
          </a:bodyPr>
          <a:lstStyle/>
          <a:p>
            <a:pPr algn="l">
              <a:defRPr sz="1150" b="0">
                <a:solidFill>
                  <a:srgbClr val="232A34"/>
                </a:solidFill>
              </a:defRPr>
            </a:pPr>
            <a:r>
              <a:t>Instructor review support</a:t>
            </a:r>
          </a:p>
        </p:txBody>
      </p:sp>
      <p:sp>
        <p:nvSpPr>
          <p:cNvPr id="46" name="Rectangle 45"/>
          <p:cNvSpPr/>
          <p:nvPr/>
        </p:nvSpPr>
        <p:spPr>
          <a:xfrm>
            <a:off x="6355080" y="5394959"/>
            <a:ext cx="5212080" cy="685800"/>
          </a:xfrm>
          <a:prstGeom prst="rect">
            <a:avLst/>
          </a:prstGeom>
          <a:solidFill>
            <a:srgbClr val="F4F7FA"/>
          </a:solidFill>
          <a:ln>
            <a:solidFill>
              <a:srgbClr val="E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28232" y="5468112"/>
            <a:ext cx="5065776" cy="530352"/>
          </a:xfrm>
          <a:prstGeom prst="rect">
            <a:avLst/>
          </a:prstGeom>
          <a:noFill/>
        </p:spPr>
        <p:txBody>
          <a:bodyPr wrap="square">
            <a:spAutoFit/>
          </a:bodyPr>
          <a:lstStyle/>
          <a:p>
            <a:pPr algn="l">
              <a:defRPr sz="1150" b="0">
                <a:solidFill>
                  <a:srgbClr val="232A34"/>
                </a:solidFill>
              </a:defRPr>
            </a:pPr>
            <a:r>
              <a:t>Component scores + classification</a:t>
            </a:r>
          </a:p>
        </p:txBody>
      </p:sp>
      <p:sp>
        <p:nvSpPr>
          <p:cNvPr id="48" name="Rectangle 47"/>
          <p:cNvSpPr/>
          <p:nvPr/>
        </p:nvSpPr>
        <p:spPr>
          <a:xfrm>
            <a:off x="502920" y="6565392"/>
            <a:ext cx="11155680" cy="18288"/>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789920" y="6583680"/>
            <a:ext cx="731520" cy="182880"/>
          </a:xfrm>
          <a:prstGeom prst="rect">
            <a:avLst/>
          </a:prstGeom>
          <a:noFill/>
        </p:spPr>
        <p:txBody>
          <a:bodyPr wrap="none">
            <a:spAutoFit/>
          </a:bodyPr>
          <a:lstStyle/>
          <a:p>
            <a:pPr algn="r">
              <a:defRPr sz="900">
                <a:solidFill>
                  <a:srgbClr val="646E7A"/>
                </a:solidFill>
              </a:defRPr>
            </a:pPr>
            <a: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1</cp:revision>
  <dcterms:created xsi:type="dcterms:W3CDTF">2013-01-27T09:14:16Z</dcterms:created>
  <dcterms:modified xsi:type="dcterms:W3CDTF">2026-10-07T05:10:06Z</dcterms:modified>
  <cp:category/>
</cp:coreProperties>
</file>